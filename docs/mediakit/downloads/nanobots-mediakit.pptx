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0f176bbe354569" /><Relationship Type="http://schemas.openxmlformats.org/officeDocument/2006/relationships/extended-properties" Target="/docProps/app.xml" Id="R8e110822f3c240c8" /><Relationship Type="http://schemas.openxmlformats.org/officeDocument/2006/relationships/officeDocument" Target="/ppt/presentation.xml" Id="R1b75b8cf021a49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41e9d1b01b4fa2"/>
  </p:sldMasterIdLst>
  <p:notesMasterIdLst>
    <p:notesMasterId xmlns:r="http://schemas.openxmlformats.org/officeDocument/2006/relationships" r:id="R0a65c1e1bfdd4855"/>
  </p:notesMasterIdLst>
  <p:sldIdLst>
    <p:sldId xmlns:r="http://schemas.openxmlformats.org/officeDocument/2006/relationships" id="256" r:id="R3fd4e7e5960b41b1"/>
    <p:sldId xmlns:r="http://schemas.openxmlformats.org/officeDocument/2006/relationships" id="257" r:id="R85b1f8ae7fb24082"/>
    <p:sldId xmlns:r="http://schemas.openxmlformats.org/officeDocument/2006/relationships" id="258" r:id="R009617a10ce5407f"/>
    <p:sldId xmlns:r="http://schemas.openxmlformats.org/officeDocument/2006/relationships" id="259" r:id="Ra7e640c259bd43d6"/>
    <p:sldId xmlns:r="http://schemas.openxmlformats.org/officeDocument/2006/relationships" id="260" r:id="Rdfffa5d5d4f64ac5"/>
    <p:sldId xmlns:r="http://schemas.openxmlformats.org/officeDocument/2006/relationships" id="261" r:id="R2f5e2efc94774a80"/>
    <p:sldId xmlns:r="http://schemas.openxmlformats.org/officeDocument/2006/relationships" id="262" r:id="R348ac85cf85b43aa"/>
    <p:sldId xmlns:r="http://schemas.openxmlformats.org/officeDocument/2006/relationships" id="263" r:id="R8da81212eec043f6"/>
    <p:sldId xmlns:r="http://schemas.openxmlformats.org/officeDocument/2006/relationships" id="264" r:id="R27cb08bfacf04f09"/>
    <p:sldId xmlns:r="http://schemas.openxmlformats.org/officeDocument/2006/relationships" id="265" r:id="R3b7f34d9091d4698"/>
    <p:sldId xmlns:r="http://schemas.openxmlformats.org/officeDocument/2006/relationships" id="266" r:id="R9c44d016d0d24121"/>
    <p:sldId xmlns:r="http://schemas.openxmlformats.org/officeDocument/2006/relationships" id="267" r:id="R99e1c7de38164e33"/>
    <p:sldId xmlns:r="http://schemas.openxmlformats.org/officeDocument/2006/relationships" id="268" r:id="Rd9915f6010f04ec5"/>
    <p:sldId xmlns:r="http://schemas.openxmlformats.org/officeDocument/2006/relationships" id="269" r:id="R5b47ed331bcb4f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2d6625c01f44a3" /><Relationship Type="http://schemas.openxmlformats.org/officeDocument/2006/relationships/slideMaster" Target="/ppt/slideMasters/slideMaster1.xml" Id="Ref41e9d1b01b4fa2" /><Relationship Type="http://schemas.openxmlformats.org/officeDocument/2006/relationships/notesMaster" Target="/ppt/notesMasters/notesMaster1.xml" Id="R0a65c1e1bfdd4855" /><Relationship Type="http://schemas.openxmlformats.org/officeDocument/2006/relationships/presProps" Target="/ppt/presProps.xml" Id="Rcdadaf6db70341bd" /><Relationship Type="http://schemas.openxmlformats.org/officeDocument/2006/relationships/tableStyles" Target="/ppt/tableStyles.xml" Id="R7d13d07df30d4879" /><Relationship Type="http://schemas.openxmlformats.org/officeDocument/2006/relationships/slide" Target="/ppt/slides/slide1.xml" Id="R3fd4e7e5960b41b1" /><Relationship Type="http://schemas.openxmlformats.org/officeDocument/2006/relationships/slide" Target="/ppt/slides/slide2.xml" Id="R85b1f8ae7fb24082" /><Relationship Type="http://schemas.openxmlformats.org/officeDocument/2006/relationships/slide" Target="/ppt/slides/slide3.xml" Id="R009617a10ce5407f" /><Relationship Type="http://schemas.openxmlformats.org/officeDocument/2006/relationships/slide" Target="/ppt/slides/slide4.xml" Id="Ra7e640c259bd43d6" /><Relationship Type="http://schemas.openxmlformats.org/officeDocument/2006/relationships/slide" Target="/ppt/slides/slide5.xml" Id="Rdfffa5d5d4f64ac5" /><Relationship Type="http://schemas.openxmlformats.org/officeDocument/2006/relationships/slide" Target="/ppt/slides/slide6.xml" Id="R2f5e2efc94774a80" /><Relationship Type="http://schemas.openxmlformats.org/officeDocument/2006/relationships/slide" Target="/ppt/slides/slide7.xml" Id="R348ac85cf85b43aa" /><Relationship Type="http://schemas.openxmlformats.org/officeDocument/2006/relationships/slide" Target="/ppt/slides/slide8.xml" Id="R8da81212eec043f6" /><Relationship Type="http://schemas.openxmlformats.org/officeDocument/2006/relationships/slide" Target="/ppt/slides/slide9.xml" Id="R27cb08bfacf04f09" /><Relationship Type="http://schemas.openxmlformats.org/officeDocument/2006/relationships/slide" Target="/ppt/slides/slide10.xml" Id="R3b7f34d9091d4698" /><Relationship Type="http://schemas.openxmlformats.org/officeDocument/2006/relationships/slide" Target="/ppt/slides/slide11.xml" Id="R9c44d016d0d24121" /><Relationship Type="http://schemas.openxmlformats.org/officeDocument/2006/relationships/slide" Target="/ppt/slides/slide12.xml" Id="R99e1c7de38164e33" /><Relationship Type="http://schemas.openxmlformats.org/officeDocument/2006/relationships/slide" Target="/ppt/slides/slide13.xml" Id="Rd9915f6010f04ec5" /><Relationship Type="http://schemas.openxmlformats.org/officeDocument/2006/relationships/slide" Target="/ppt/slides/slide14.xml" Id="R5b47ed331bcb4f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7d6c9bff3242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Geologica"/>
        <a:ea typeface=""/>
        <a:cs typeface=""/>
      </a:majorFont>
      <a:minorFont>
        <a:latin typeface="Geologica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216d17192a44f0" /><Relationship Type="http://schemas.openxmlformats.org/officeDocument/2006/relationships/notesMaster" Target="/ppt/notesMasters/notesMaster1.xml" Id="Ra94aa695317f47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9e83e771a324007" /><Relationship Type="http://schemas.openxmlformats.org/officeDocument/2006/relationships/notesMaster" Target="/ppt/notesMasters/notesMaster1.xml" Id="R57580da498a248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d55b8b9c8440b6" /><Relationship Type="http://schemas.openxmlformats.org/officeDocument/2006/relationships/notesMaster" Target="/ppt/notesMasters/notesMaster1.xml" Id="Rbe4d940313a146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8611453d394c32" /><Relationship Type="http://schemas.openxmlformats.org/officeDocument/2006/relationships/notesMaster" Target="/ppt/notesMasters/notesMaster1.xml" Id="R96ac73c909d24e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672a0470f94d69" /><Relationship Type="http://schemas.openxmlformats.org/officeDocument/2006/relationships/notesMaster" Target="/ppt/notesMasters/notesMaster1.xml" Id="R0628dc3a6eeb42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9e6a5dab31415c" /><Relationship Type="http://schemas.openxmlformats.org/officeDocument/2006/relationships/notesMaster" Target="/ppt/notesMasters/notesMaster1.xml" Id="R64076cb2b7a448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873e9a0d3f4f1e" /><Relationship Type="http://schemas.openxmlformats.org/officeDocument/2006/relationships/notesMaster" Target="/ppt/notesMasters/notesMaster1.xml" Id="Rcc2bb7af943b42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81b3e932f94f06" /><Relationship Type="http://schemas.openxmlformats.org/officeDocument/2006/relationships/notesMaster" Target="/ppt/notesMasters/notesMaster1.xml" Id="R6c10336129b543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f06f65d3ec4622" /><Relationship Type="http://schemas.openxmlformats.org/officeDocument/2006/relationships/notesMaster" Target="/ppt/notesMasters/notesMaster1.xml" Id="R1c963f13503447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7cc49df7d24513" /><Relationship Type="http://schemas.openxmlformats.org/officeDocument/2006/relationships/notesMaster" Target="/ppt/notesMasters/notesMaster1.xml" Id="Ra9572dbcef8348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0593efc25ec430e" /><Relationship Type="http://schemas.openxmlformats.org/officeDocument/2006/relationships/notesMaster" Target="/ppt/notesMasters/notesMaster1.xml" Id="R6b3f18c0bc0643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3177af0d74b47da" /><Relationship Type="http://schemas.openxmlformats.org/officeDocument/2006/relationships/notesMaster" Target="/ppt/notesMasters/notesMaster1.xml" Id="R16d7165b7d89475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51ab11f353b4577" /><Relationship Type="http://schemas.openxmlformats.org/officeDocument/2006/relationships/notesMaster" Target="/ppt/notesMasters/notesMaster1.xml" Id="Ra6c177eec5d14c5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fbcb6e45ffe4aa0" /><Relationship Type="http://schemas.openxmlformats.org/officeDocument/2006/relationships/notesMaster" Target="/ppt/notesMasters/notesMaster1.xml" Id="R7ebc04db84fc4a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  <a:p xmlns:a="http://schemas.openxmlformats.org/drawingml/2006/main">
            <a:r>
              <a:t>Методика: доли по полу взвешены по числу подписчиков из отчёта команды, база весов 64 502 подписки. Источник не уточняет, относятся исходные доли к подписчикам или зрителям. Данные остальных площадок в расчёт не входят. Показатели округлены до одной десятичной, сумма 100%.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https://nanoboti.ru/mediakit/ (содержание страницы на 22 октября 2026 года). Изображения и логотипы из материалов проекта НАНОБОТЫ.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4db1b9082d40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290ae89eaa413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2c8f2c22ff4ec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13ccc3e0ce42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df37cc164c437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2ea4a38ae140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1FD5AB-5688-46B6-98ED-D87BBEDDF1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C23111D-4B2C-4AEB-AAA9-081622495EE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56C7808-95AE-4BE6-BAA1-39734E37CE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1406B2-B166-4C71-92C2-820DCF6B48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2AFA1D9-2F20-498F-AC6D-CA32901A5D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561CAED-0CA9-408F-BBD1-566852D24F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9A4D4C0-3EED-4D1B-9E96-9C8530C2F8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027AD6F-D980-4220-AF49-77A5402D770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D39F9A-C22E-4E66-83D3-C44FA9755F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9C7FA6-1398-4F10-B1B3-FDF07A3905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c459dd9178456a" /><Relationship Type="http://schemas.openxmlformats.org/officeDocument/2006/relationships/slideLayout" Target="/ppt/slideLayouts/slideLayout1.xml" Id="Rbc15790d6b704087" /><Relationship Type="http://schemas.openxmlformats.org/officeDocument/2006/relationships/slideLayout" Target="/ppt/slideLayouts/slideLayout2.xml" Id="Re114fdc3ddbb4eaa" /><Relationship Type="http://schemas.openxmlformats.org/officeDocument/2006/relationships/slideLayout" Target="/ppt/slideLayouts/slideLayout3.xml" Id="R2efd36c0c5604db7" /><Relationship Type="http://schemas.openxmlformats.org/officeDocument/2006/relationships/slideLayout" Target="/ppt/slideLayouts/slideLayout4.xml" Id="R1828ea5cd7cd44be" /><Relationship Type="http://schemas.openxmlformats.org/officeDocument/2006/relationships/slideLayout" Target="/ppt/slideLayouts/slideLayout5.xml" Id="Ra7fd56a405a3499e" /><Relationship Type="http://schemas.openxmlformats.org/officeDocument/2006/relationships/slideLayout" Target="/ppt/slideLayouts/slideLayout6.xml" Id="R79b357b577b14c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15790d6b704087"/>
    <p:sldLayoutId xmlns:r="http://schemas.openxmlformats.org/officeDocument/2006/relationships" id="2147483650" r:id="Re114fdc3ddbb4eaa"/>
    <p:sldLayoutId xmlns:r="http://schemas.openxmlformats.org/officeDocument/2006/relationships" id="2147483651" r:id="R2efd36c0c5604db7"/>
    <p:sldLayoutId xmlns:r="http://schemas.openxmlformats.org/officeDocument/2006/relationships" id="2147483652" r:id="R1828ea5cd7cd44be"/>
    <p:sldLayoutId xmlns:r="http://schemas.openxmlformats.org/officeDocument/2006/relationships" id="2147483653" r:id="Ra7fd56a405a3499e"/>
    <p:sldLayoutId xmlns:r="http://schemas.openxmlformats.org/officeDocument/2006/relationships" id="2147483654" r:id="R79b357b577b14c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Geologica"/>
        <a:ea typeface=""/>
        <a:cs typeface=""/>
      </a:majorFont>
      <a:minorFont>
        <a:latin typeface="Geologica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d6df9c08b446b0" /><Relationship Type="http://schemas.openxmlformats.org/officeDocument/2006/relationships/image" Target="/ppt/media/image.png" Id="R072b93f00108431a" /><Relationship Type="http://schemas.openxmlformats.org/officeDocument/2006/relationships/image" Target="/ppt/media/image.jpeg" Id="R071766f447dc4487" /><Relationship Type="http://schemas.openxmlformats.org/officeDocument/2006/relationships/hyperlink" Target="https://nanoboti.ru/" TargetMode="External" Id="R436d723803474222" /><Relationship Type="http://schemas.openxmlformats.org/officeDocument/2006/relationships/notesSlide" Target="/ppt/notesSlides/notesSlide1.xml" Id="R26b66088a4f644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82987207524ff8" /><Relationship Type="http://schemas.openxmlformats.org/officeDocument/2006/relationships/image" Target="/ppt/media/image2.jpeg" Id="R780ee6ffbdf54d55" /><Relationship Type="http://schemas.openxmlformats.org/officeDocument/2006/relationships/notesSlide" Target="/ppt/notesSlides/notesSlide2.xml" Id="Rf75d413649d440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2ac28de57848c0" /><Relationship Type="http://schemas.openxmlformats.org/officeDocument/2006/relationships/notesSlide" Target="/ppt/notesSlides/notesSlide3.xml" Id="R6d27f5f0e23040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89486a532d4137" /><Relationship Type="http://schemas.openxmlformats.org/officeDocument/2006/relationships/notesSlide" Target="/ppt/notesSlides/notesSlide4.xml" Id="R94799094916246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1a2ed819e14660" /><Relationship Type="http://schemas.openxmlformats.org/officeDocument/2006/relationships/notesSlide" Target="/ppt/notesSlides/notesSlide5.xml" Id="Ra7cd031ed6b649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34eb523a2a4101" /><Relationship Type="http://schemas.openxmlformats.org/officeDocument/2006/relationships/chart" Target="/ppt/slides/charts/chart1.xml" Id="R46e0c7ebbe9742ed" /><Relationship Type="http://schemas.openxmlformats.org/officeDocument/2006/relationships/notesSlide" Target="/ppt/notesSlides/notesSlide6.xml" Id="R2f25de11029b45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5bd9667903494e" /><Relationship Type="http://schemas.openxmlformats.org/officeDocument/2006/relationships/image" Target="/ppt/media/image2.png" Id="Rc90a1461be9947d4" /><Relationship Type="http://schemas.openxmlformats.org/officeDocument/2006/relationships/hyperlink" Target="https://vk.ru/nanobotsmult" TargetMode="External" Id="R4cba3014d9964f16" /><Relationship Type="http://schemas.openxmlformats.org/officeDocument/2006/relationships/hyperlink" Target="https://vk.ru/nanobotsmult" TargetMode="External" Id="Rb8133657e2434136" /><Relationship Type="http://schemas.openxmlformats.org/officeDocument/2006/relationships/image" Target="/ppt/media/image3.png" Id="Re0b2d0eedf834a71" /><Relationship Type="http://schemas.openxmlformats.org/officeDocument/2006/relationships/hyperlink" Target="https://youtube.com/@nanobots_mult" TargetMode="External" Id="R2e8adfdb95794396" /><Relationship Type="http://schemas.openxmlformats.org/officeDocument/2006/relationships/hyperlink" Target="https://youtube.com/@nanobots_mult" TargetMode="External" Id="R75984a38f77d4dbc" /><Relationship Type="http://schemas.openxmlformats.org/officeDocument/2006/relationships/image" Target="/ppt/media/image4.png" Id="R77833564646d45d0" /><Relationship Type="http://schemas.openxmlformats.org/officeDocument/2006/relationships/hyperlink" Target="https://rutube.ru/channel/68047778" TargetMode="External" Id="R039131ee273b4e07" /><Relationship Type="http://schemas.openxmlformats.org/officeDocument/2006/relationships/hyperlink" Target="https://rutube.ru/channel/68047778" TargetMode="External" Id="R0a1193165b074627" /><Relationship Type="http://schemas.openxmlformats.org/officeDocument/2006/relationships/image" Target="/ppt/media/image5.png" Id="R8e409fedd8b54aef" /><Relationship Type="http://schemas.openxmlformats.org/officeDocument/2006/relationships/hyperlink" Target="https://tiktok.com/@nanobots_mult1" TargetMode="External" Id="Rc1dbf93d674e4b3c" /><Relationship Type="http://schemas.openxmlformats.org/officeDocument/2006/relationships/hyperlink" Target="https://tiktok.com/@nanobots_mult1" TargetMode="External" Id="Re76646450a094dba" /><Relationship Type="http://schemas.openxmlformats.org/officeDocument/2006/relationships/image" Target="/ppt/media/image6.png" Id="Rb3de3a97b82b4eb7" /><Relationship Type="http://schemas.openxmlformats.org/officeDocument/2006/relationships/hyperlink" Target="https://l.likee.video/p/8qpTgD" TargetMode="External" Id="R7f21b4d1a6934bc5" /><Relationship Type="http://schemas.openxmlformats.org/officeDocument/2006/relationships/hyperlink" Target="https://l.likee.video/p/8qpTgD" TargetMode="External" Id="R94b2f34115df4c7b" /><Relationship Type="http://schemas.openxmlformats.org/officeDocument/2006/relationships/image" Target="/ppt/media/image7.png" Id="R80a413717dba4704" /><Relationship Type="http://schemas.openxmlformats.org/officeDocument/2006/relationships/hyperlink" Target="https://yappy.media/n/nanobots_mult" TargetMode="External" Id="Rbdca42c3ccec410d" /><Relationship Type="http://schemas.openxmlformats.org/officeDocument/2006/relationships/hyperlink" Target="https://yappy.media/n/nanobots_mult" TargetMode="External" Id="R910e2a44167440e4" /><Relationship Type="http://schemas.openxmlformats.org/officeDocument/2006/relationships/image" Target="/ppt/media/image8.png" Id="Rc90c31265a514221" /><Relationship Type="http://schemas.openxmlformats.org/officeDocument/2006/relationships/hyperlink" Target="https://max.ru/channel_id5040174570_biz" TargetMode="External" Id="R83ff95787904475c" /><Relationship Type="http://schemas.openxmlformats.org/officeDocument/2006/relationships/hyperlink" Target="https://max.ru/channel_id5040174570_biz" TargetMode="External" Id="R929c4e2beca041a3" /><Relationship Type="http://schemas.openxmlformats.org/officeDocument/2006/relationships/image" Target="/ppt/media/image9.png" Id="R86ec63acb9704e27" /><Relationship Type="http://schemas.openxmlformats.org/officeDocument/2006/relationships/hyperlink" Target="https://t.me/nanobots_mult" TargetMode="External" Id="Ra2bb886db304490e" /><Relationship Type="http://schemas.openxmlformats.org/officeDocument/2006/relationships/hyperlink" Target="https://t.me/nanobots_mult" TargetMode="External" Id="Rc88ebc4134694703" /><Relationship Type="http://schemas.openxmlformats.org/officeDocument/2006/relationships/notesSlide" Target="/ppt/notesSlides/notesSlide7.xml" Id="Rddb4eed7996143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e81cef034c49ad" /><Relationship Type="http://schemas.openxmlformats.org/officeDocument/2006/relationships/notesSlide" Target="/ppt/notesSlides/notesSlide8.xml" Id="R3b39cca018e840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0d0fb62894454d" /><Relationship Type="http://schemas.openxmlformats.org/officeDocument/2006/relationships/notesSlide" Target="/ppt/notesSlides/notesSlide9.xml" Id="Rfedaeddc4e8347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cc348364b04eb1" /><Relationship Type="http://schemas.openxmlformats.org/officeDocument/2006/relationships/notesSlide" Target="/ppt/notesSlides/notesSlide10.xml" Id="R04bbaf5b2b1547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e0618b5f834dab" /><Relationship Type="http://schemas.openxmlformats.org/officeDocument/2006/relationships/notesSlide" Target="/ppt/notesSlides/notesSlide11.xml" Id="Rf49b0b90b76c49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5ae0c872ba4d2c" /><Relationship Type="http://schemas.openxmlformats.org/officeDocument/2006/relationships/notesSlide" Target="/ppt/notesSlides/notesSlide12.xml" Id="Rafa3f70f28184c9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c14c2c3a0e49bb" /><Relationship Type="http://schemas.openxmlformats.org/officeDocument/2006/relationships/image" Target="/ppt/media/image10.png" Id="Raabc2208039c450a" /><Relationship Type="http://schemas.openxmlformats.org/officeDocument/2006/relationships/hyperlink" Target="https://&#1080;&#1088;&#1080;.&#1088;&#1092;/" TargetMode="External" Id="Re37bf004c5b143cf" /><Relationship Type="http://schemas.openxmlformats.org/officeDocument/2006/relationships/hyperlink" Target="https://&#1080;&#1088;&#1080;.&#1088;&#1092;/" TargetMode="External" Id="Ra30747b84b7049e1" /><Relationship Type="http://schemas.openxmlformats.org/officeDocument/2006/relationships/image" Target="/ppt/media/image11.png" Id="R2146359c8a514826" /><Relationship Type="http://schemas.openxmlformats.org/officeDocument/2006/relationships/hyperlink" Target="https://minobrnauki.gov.ru/" TargetMode="External" Id="R0935311e26454ff4" /><Relationship Type="http://schemas.openxmlformats.org/officeDocument/2006/relationships/image" Target="/ppt/media/image12.png" Id="R13cfb202dba84a13" /><Relationship Type="http://schemas.openxmlformats.org/officeDocument/2006/relationships/hyperlink" Target="https://&#1085;&#1072;&#1091;&#1082;&#1072;.&#1088;&#1092;/" TargetMode="External" Id="Ra068aeaccdf344e0" /><Relationship Type="http://schemas.openxmlformats.org/officeDocument/2006/relationships/hyperlink" Target="https://&#1085;&#1072;&#1091;&#1082;&#1072;.&#1088;&#1092;/" TargetMode="External" Id="R7db91ebbb270411d" /><Relationship Type="http://schemas.openxmlformats.org/officeDocument/2006/relationships/image" Target="/ppt/media/image13.png" Id="R79124f71c11140fa" /><Relationship Type="http://schemas.openxmlformats.org/officeDocument/2006/relationships/hyperlink" Target="https://festivalnauki.ru/" TargetMode="External" Id="R19edc1b8841d4400" /><Relationship Type="http://schemas.openxmlformats.org/officeDocument/2006/relationships/image" Target="/ppt/media/image14.png" Id="Rb3d8a926f5614b50" /><Relationship Type="http://schemas.openxmlformats.org/officeDocument/2006/relationships/hyperlink" Target="https://&#1085;&#1072;&#1094;&#1080;&#1086;&#1085;&#1072;&#1083;&#1100;&#1085;&#1099;&#1077;&#1087;&#1088;&#1080;&#1086;&#1088;&#1080;&#1090;&#1077;&#1090;&#1099;.&#1088;&#1092;/" TargetMode="External" Id="Rec5cb43490e94e24" /><Relationship Type="http://schemas.openxmlformats.org/officeDocument/2006/relationships/notesSlide" Target="/ppt/notesSlides/notesSlide13.xml" Id="R415af1dfee284f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4b08519aa449a0" /><Relationship Type="http://schemas.openxmlformats.org/officeDocument/2006/relationships/image" Target="/ppt/media/image15.png" Id="R40d307c8027d4304" /><Relationship Type="http://schemas.openxmlformats.org/officeDocument/2006/relationships/hyperlink" Target="mailto:valikova@4meds.ru" TargetMode="External" Id="Rd32dc1d2b3954a3a" /><Relationship Type="http://schemas.openxmlformats.org/officeDocument/2006/relationships/hyperlink" Target="https://nanoboti.ru/" TargetMode="External" Id="R049ff4c3374d4fbd" /><Relationship Type="http://schemas.openxmlformats.org/officeDocument/2006/relationships/notesSlide" Target="/ppt/notesSlides/notesSlide14.xml" Id="Ra3aa6cfda40649d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doughnutChart>
        <c:ser>
          <c:idx val="0"/>
          <c:order val="0"/>
          <c:tx>
            <c:v>Доля, %</c:v>
          </c:tx>
          <c:dPt>
            <c:idx val="0"/>
            <c:spPr>
              <a:solidFill xmlns:a="http://schemas.openxmlformats.org/drawingml/2006/main">
                <a:srgbClr val="F73D78"/>
              </a:solidFill>
            </c:spPr>
          </c:dPt>
          <c:dPt>
            <c:idx val="1"/>
            <c:spPr>
              <a:solidFill xmlns:a="http://schemas.openxmlformats.org/drawingml/2006/main">
                <a:srgbClr val="3C63F2"/>
              </a:solidFill>
            </c:spPr>
          </c:dPt>
          <c:dPt>
            <c:idx val="2"/>
            <c:spPr>
              <a:solidFill xmlns:a="http://schemas.openxmlformats.org/drawingml/2006/main">
                <a:srgbClr val="DCE0EF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Женщины</c:v>
                </c:pt>
                <c:pt idx="1">
                  <c:v>Мужчины</c:v>
                </c:pt>
                <c:pt idx="2">
                  <c:v>Без разбивки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52.4</c:v>
                </c:pt>
                <c:pt idx="1">
                  <c:v>46.9</c:v>
                </c:pt>
                <c:pt idx="2">
                  <c:v>0.7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Geologica"/>
                  <a:ea typeface="Geologica"/>
                  <a:cs typeface="Geologica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E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FB4DC-B7BF-4702-9C12-2C27BF9A0E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b93f00108431a"/>
          <a:stretch xmlns:a="http://schemas.openxmlformats.org/drawingml/2006/main"/>
        </p:blipFill>
        <p:spPr>
          <a:xfrm xmlns:a="http://schemas.openxmlformats.org/drawingml/2006/main">
            <a:off x="609600" y="430213"/>
            <a:ext cx="1333500" cy="777875"/>
          </a:xfrm>
          <a:prstGeom xmlns:a="http://schemas.openxmlformats.org/drawingml/2006/main" prst="rect">
            <a:avLst/>
          </a:prstGeom>
        </p:spPr>
      </p:pic>
      <p:sp>
        <p:nvSpPr>
          <p:cNvPr id="2" name="МЕДИАКИТ 2026">
            <a:extLst xmlns:a="http://schemas.openxmlformats.org/drawingml/2006/main">
              <a:ext uri="{FF2B5EF4-FFF2-40B4-BE49-F238E27FC236}">
                <a16:creationId xmlns:a16="http://schemas.microsoft.com/office/drawing/2014/main" id="{A4F3BF4D-0131-4E70-80B8-DE0D8DBB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609600"/>
            <a:ext cx="2809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500" b="1">
                <a:solidFill>
                  <a:srgbClr val="BDC8F7"/>
                </a:solidFill>
                <a:latin typeface="Geologica"/>
                <a:ea typeface="Geologica"/>
                <a:cs typeface="Geologica"/>
              </a:rPr>
              <a:t>МЕДИАКИТ 2026</a:t>
            </a:r>
          </a:p>
        </p:txBody>
      </p:sp>
      <p:sp>
        <p:nvSpPr>
          <p:cNvPr id="3" name="Маленькие герои">
            <a:extLst xmlns:a="http://schemas.openxmlformats.org/drawingml/2006/main">
              <a:ext uri="{FF2B5EF4-FFF2-40B4-BE49-F238E27FC236}">
                <a16:creationId xmlns:a16="http://schemas.microsoft.com/office/drawing/2014/main" id="{FDC18668-6CDA-4B55-ADDA-BA94FB4D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609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4350" b="1">
                <a:solidFill>
                  <a:srgbClr val="FFFFFF"/>
                </a:solidFill>
                <a:latin typeface="Geologica"/>
                <a:ea typeface="Geologica"/>
                <a:cs typeface="Geologica"/>
              </a:rPr>
              <a:t>Маленькие герои</a:t>
            </a:r>
          </a:p>
        </p:txBody>
      </p:sp>
      <p:sp>
        <p:nvSpPr>
          <p:cNvPr id="4" name="Большие&#10;возможности">
            <a:extLst xmlns:a="http://schemas.openxmlformats.org/drawingml/2006/main">
              <a:ext uri="{FF2B5EF4-FFF2-40B4-BE49-F238E27FC236}">
                <a16:creationId xmlns:a16="http://schemas.microsoft.com/office/drawing/2014/main" id="{DCF460DA-8852-4620-AD04-5BA05A8A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6000750" cy="1533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defPPr>
            <a:lvl1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1pPr>
            <a:lvl2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2pPr>
            <a:lvl3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3pPr>
            <a:lvl4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4pPr>
            <a:lvl5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5pPr>
            <a:lvl6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6pPr>
            <a:lvl7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7pPr>
            <a:lvl8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8pPr>
            <a:lvl9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pPr>
            <a:r>
              <a: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rPr>
              <a:t>Большие</a:t>
            </a:r>
          </a:p>
          <a:p xmlns:a="http://schemas.openxmlformats.org/drawingml/2006/main">
            <a:pPr>
              <a:def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pPr>
            <a:r>
              <a:rPr sz="4350" b="1">
                <a:solidFill>
                  <a:srgbClr val="FFE36A"/>
                </a:solidFill>
                <a:latin typeface="Geologica"/>
                <a:ea typeface="Geologica"/>
                <a:cs typeface="Geologica"/>
              </a:rPr>
              <a:t>возможности</a:t>
            </a:r>
          </a:p>
        </p:txBody>
      </p:sp>
      <p:sp>
        <p:nvSpPr>
          <p:cNvPr id="5" name="Анимационная вселенная&#10;для всей семьи">
            <a:extLst xmlns:a="http://schemas.openxmlformats.org/drawingml/2006/main">
              <a:ext uri="{FF2B5EF4-FFF2-40B4-BE49-F238E27FC236}">
                <a16:creationId xmlns:a16="http://schemas.microsoft.com/office/drawing/2014/main" id="{05EF674D-BFDC-4776-BA45-FA5CAE2C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53816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rPr>
              <a:t>Анимационная вселенная</a:t>
            </a:r>
          </a:p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2025" b="0">
                <a:solidFill>
                  <a:srgbClr val="FFFFFF"/>
                </a:solidFill>
                <a:latin typeface="Geologica"/>
                <a:ea typeface="Geologica"/>
                <a:cs typeface="Geologica"/>
              </a:rPr>
              <a:t>для всей семьи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EB2B2-B563-47A2-BA15-E394282DEA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766f447dc4487"/>
          <a:stretch xmlns:a="http://schemas.openxmlformats.org/drawingml/2006/main"/>
        </p:blipFill>
        <p:spPr>
          <a:xfrm xmlns:a="http://schemas.openxmlformats.org/drawingml/2006/main">
            <a:off x="6629400" y="1954213"/>
            <a:ext cx="4953000" cy="3302000"/>
          </a:xfrm>
          <a:prstGeom xmlns:a="http://schemas.openxmlformats.org/drawingml/2006/main" prst="roundRect">
            <a:avLst>
              <a:gd name="adj" fmla="val 9222"/>
            </a:avLst>
          </a:prstGeom>
        </p:spPr>
      </p:pic>
      <p:sp>
        <p:nvSpPr>
          <p:cNvPr id="7" name="Для брендов, образовательных проектов и СМ">
            <a:extLst xmlns:a="http://schemas.openxmlformats.org/drawingml/2006/main">
              <a:ext uri="{FF2B5EF4-FFF2-40B4-BE49-F238E27FC236}">
                <a16:creationId xmlns:a16="http://schemas.microsoft.com/office/drawing/2014/main" id="{F8A8F9C5-3680-4EC9-94AB-3A46705A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defPPr>
            <a:lvl1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1pPr>
            <a:lvl2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2pPr>
            <a:lvl3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3pPr>
            <a:lvl4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4pPr>
            <a:lvl5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5pPr>
            <a:lvl6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6pPr>
            <a:lvl7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7pPr>
            <a:lvl8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8pPr>
            <a:lvl9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rPr>
              <a:t>Для брендов, образовательных проектов и СМИ</a:t>
            </a:r>
          </a:p>
        </p:txBody>
      </p:sp>
      <p:sp>
        <p:nvSpPr>
          <p:cNvPr id="8" name="nanoboti.ru">
            <a:extLst xmlns:a="http://schemas.openxmlformats.org/drawingml/2006/main">
              <a:ext uri="{FF2B5EF4-FFF2-40B4-BE49-F238E27FC236}">
                <a16:creationId xmlns:a16="http://schemas.microsoft.com/office/drawing/2014/main" id="{9D9D22C9-62EC-4C83-A653-0AF843E4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962650"/>
            <a:ext cx="185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defPPr>
            <a:lvl1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1pPr>
            <a:lvl2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2pPr>
            <a:lvl3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3pPr>
            <a:lvl4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4pPr>
            <a:lvl5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5pPr>
            <a:lvl6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6pPr>
            <a:lvl7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7pPr>
            <a:lvl8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8pPr>
            <a:lvl9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425" b="0">
                <a:solidFill>
                  <a:srgbClr val="BDC8F7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436d723803474222"/>
              </a:rPr>
              <a:t>nanoboti.ru</a:t>
            </a:r>
          </a:p>
        </p:txBody>
      </p:sp>
    </p:spTree>
    <p:extLst>
      <p:ext uri="{BB962C8B-B14F-4D97-AF65-F5344CB8AC3E}">
        <p14:creationId xmlns:p14="http://schemas.microsoft.com/office/powerpoint/2010/main" val="16947441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Вселенная, которая всегда с нами">
            <a:extLst xmlns:a="http://schemas.openxmlformats.org/drawingml/2006/main">
              <a:ext uri="{FF2B5EF4-FFF2-40B4-BE49-F238E27FC236}">
                <a16:creationId xmlns:a16="http://schemas.microsoft.com/office/drawing/2014/main" id="{41B74B00-5DC2-4958-A0CE-5CA0139F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Вселенная, которая всегда с нами</a:t>
            </a:r>
          </a:p>
        </p:txBody>
      </p:sp>
      <p:sp>
        <p:nvSpPr>
          <p:cNvPr id="2" name="Внутри учёного-изобретателя Петра живёт ко">
            <a:extLst xmlns:a="http://schemas.openxmlformats.org/drawingml/2006/main">
              <a:ext uri="{FF2B5EF4-FFF2-40B4-BE49-F238E27FC236}">
                <a16:creationId xmlns:a16="http://schemas.microsoft.com/office/drawing/2014/main" id="{D8ACF505-70D8-4326-9A2A-6BAF073E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381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Внутри учёного-изобретателя Петра живёт команда наноботов. Они охраняют его здоровье, а каждый симптом превращают в приключение.</a:t>
            </a:r>
          </a:p>
        </p:txBody>
      </p:sp>
      <p:sp>
        <p:nvSpPr>
          <p:cNvPr id="3" name="Комедия, открытия и понятная наука помогаю">
            <a:extLst xmlns:a="http://schemas.openxmlformats.org/drawingml/2006/main">
              <a:ext uri="{FF2B5EF4-FFF2-40B4-BE49-F238E27FC236}">
                <a16:creationId xmlns:a16="http://schemas.microsoft.com/office/drawing/2014/main" id="{E0109E91-0883-4F3E-86F8-72C1CCBB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63817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80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Комедия, открытия и понятная наука помогают детям и родителям вместе узнавать, как устроен человеческий организм.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575F0-F82C-4300-97C8-B146EE1307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0ee6ffbdf54d55"/>
          <a:stretch xmlns:a="http://schemas.openxmlformats.org/drawingml/2006/main"/>
        </p:blipFill>
        <p:spPr>
          <a:xfrm xmlns:a="http://schemas.openxmlformats.org/drawingml/2006/main">
            <a:off x="7991475" y="1648623"/>
            <a:ext cx="3581400" cy="4475154"/>
          </a:xfrm>
          <a:prstGeom xmlns:a="http://schemas.openxmlformats.org/drawingml/2006/main" prst="roundRect">
            <a:avLst>
              <a:gd name="adj" fmla="val 7979"/>
            </a:avLst>
          </a:prstGeom>
        </p:spPr>
      </p:pic>
      <p:sp>
        <p:nvSpPr>
          <p:cNvPr id="5" name="6 - 14 лет">
            <a:extLst xmlns:a="http://schemas.openxmlformats.org/drawingml/2006/main">
              <a:ext uri="{FF2B5EF4-FFF2-40B4-BE49-F238E27FC236}">
                <a16:creationId xmlns:a16="http://schemas.microsoft.com/office/drawing/2014/main" id="{B77295AD-EDA0-4D0A-BC4B-14C8A922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23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6 - 14 лет</a:t>
            </a:r>
          </a:p>
        </p:txBody>
      </p:sp>
      <p:sp>
        <p:nvSpPr>
          <p:cNvPr id="6" name="Дети и их родители">
            <a:extLst xmlns:a="http://schemas.openxmlformats.org/drawingml/2006/main">
              <a:ext uri="{FF2B5EF4-FFF2-40B4-BE49-F238E27FC236}">
                <a16:creationId xmlns:a16="http://schemas.microsoft.com/office/drawing/2014/main" id="{8E621017-3A06-4B1D-84B9-799579E1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Дети и их родители</a:t>
            </a:r>
          </a:p>
        </p:txBody>
      </p:sp>
      <p:sp>
        <p:nvSpPr>
          <p:cNvPr id="7" name="Рисованная и объёмная анимация, короткие р">
            <a:extLst xmlns:a="http://schemas.openxmlformats.org/drawingml/2006/main">
              <a:ext uri="{FF2B5EF4-FFF2-40B4-BE49-F238E27FC236}">
                <a16:creationId xmlns:a16="http://schemas.microsoft.com/office/drawing/2014/main" id="{5D6A5516-7306-412B-B5D2-F34F2705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70535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Рисованная и объёмная анимация, короткие ролики</a:t>
            </a:r>
          </a:p>
        </p:txBody>
      </p:sp>
      <p:sp>
        <p:nvSpPr>
          <p:cNvPr id="8" name="Научная и медицинская проверка содержания">
            <a:extLst xmlns:a="http://schemas.openxmlformats.org/drawingml/2006/main">
              <a:ext uri="{FF2B5EF4-FFF2-40B4-BE49-F238E27FC236}">
                <a16:creationId xmlns:a16="http://schemas.microsoft.com/office/drawing/2014/main" id="{932EB6D7-33DD-4544-BC77-B5B6D85B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647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50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Научная и медицинская проверка содержания</a:t>
            </a:r>
          </a:p>
        </p:txBody>
      </p:sp>
      <p:sp>
        <p:nvSpPr>
          <p:cNvPr id="9" name="НАНОБОТЫ">
            <a:extLst xmlns:a="http://schemas.openxmlformats.org/drawingml/2006/main">
              <a:ext uri="{FF2B5EF4-FFF2-40B4-BE49-F238E27FC236}">
                <a16:creationId xmlns:a16="http://schemas.microsoft.com/office/drawing/2014/main" id="{88AD65FD-6AA3-45C4-B23C-75FAF35A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НАНОБОТЫ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E930A00C-DF36-4F05-85DB-21149FA3E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00559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7E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Истории, которые смотрят миллионы">
            <a:extLst xmlns:a="http://schemas.openxmlformats.org/drawingml/2006/main">
              <a:ext uri="{FF2B5EF4-FFF2-40B4-BE49-F238E27FC236}">
                <a16:creationId xmlns:a16="http://schemas.microsoft.com/office/drawing/2014/main" id="{5A064EC2-E8E7-43A3-9FE0-642D5D59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Истории, которые смотрят миллионы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1CF6BC-6380-4DD4-89EF-AE3B6929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5276850" cy="3257550"/>
          </a:xfrm>
          <a:prstGeom xmlns:a="http://schemas.openxmlformats.org/drawingml/2006/main" prst="roundRect">
            <a:avLst>
              <a:gd name="adj" fmla="val 81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6019B-56D4-408E-9043-C5A33777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62175"/>
            <a:ext cx="5467350" cy="3257550"/>
          </a:xfrm>
          <a:prstGeom xmlns:a="http://schemas.openxmlformats.org/drawingml/2006/main" prst="roundRect">
            <a:avLst>
              <a:gd name="adj" fmla="val 8187"/>
            </a:avLst>
          </a:prstGeom>
          <a:solidFill xmlns:a="http://schemas.openxmlformats.org/drawingml/2006/main">
            <a:srgbClr val="FFE36A"/>
          </a:solidFill>
          <a:ln xmlns:a="http://schemas.openxmlformats.org/drawingml/2006/main" w="0">
            <a:noFill/>
          </a:ln>
        </p:spPr>
      </p:sp>
      <p:sp>
        <p:nvSpPr>
          <p:cNvPr id="4" name="70+">
            <a:extLst xmlns:a="http://schemas.openxmlformats.org/drawingml/2006/main">
              <a:ext uri="{FF2B5EF4-FFF2-40B4-BE49-F238E27FC236}">
                <a16:creationId xmlns:a16="http://schemas.microsoft.com/office/drawing/2014/main" id="{E7AB7458-9ECB-4C42-A19C-4FA300064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81250"/>
            <a:ext cx="3429000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9900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70+</a:t>
            </a:r>
          </a:p>
        </p:txBody>
      </p:sp>
      <p:sp>
        <p:nvSpPr>
          <p:cNvPr id="5" name="млн">
            <a:extLst xmlns:a="http://schemas.openxmlformats.org/drawingml/2006/main">
              <a:ext uri="{FF2B5EF4-FFF2-40B4-BE49-F238E27FC236}">
                <a16:creationId xmlns:a16="http://schemas.microsoft.com/office/drawing/2014/main" id="{9F4278BA-D1E3-4412-BFFF-D66F04DE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200400"/>
            <a:ext cx="1285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3300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млн</a:t>
            </a:r>
          </a:p>
        </p:txBody>
      </p:sp>
      <p:sp>
        <p:nvSpPr>
          <p:cNvPr id="6" name="просмотров">
            <a:extLst xmlns:a="http://schemas.openxmlformats.org/drawingml/2006/main">
              <a:ext uri="{FF2B5EF4-FFF2-40B4-BE49-F238E27FC236}">
                <a16:creationId xmlns:a16="http://schemas.microsoft.com/office/drawing/2014/main" id="{C93F5594-C0ED-408B-AE73-1F03FCDB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24325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просмотров</a:t>
            </a:r>
          </a:p>
        </p:txBody>
      </p:sp>
      <p:sp>
        <p:nvSpPr>
          <p:cNvPr id="7" name="на всех площадках проекта">
            <a:extLst xmlns:a="http://schemas.openxmlformats.org/drawingml/2006/main">
              <a:ext uri="{FF2B5EF4-FFF2-40B4-BE49-F238E27FC236}">
                <a16:creationId xmlns:a16="http://schemas.microsoft.com/office/drawing/2014/main" id="{0F58E25B-EC05-4513-A716-3F3D187C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244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 всех площадках проекта</a:t>
            </a:r>
          </a:p>
        </p:txBody>
      </p:sp>
      <p:sp>
        <p:nvSpPr>
          <p:cNvPr id="8" name="100">
            <a:extLst xmlns:a="http://schemas.openxmlformats.org/drawingml/2006/main">
              <a:ext uri="{FF2B5EF4-FFF2-40B4-BE49-F238E27FC236}">
                <a16:creationId xmlns:a16="http://schemas.microsoft.com/office/drawing/2014/main" id="{304DA787-02E3-4C24-BF31-6CA7E1C7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381250"/>
            <a:ext cx="3476625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99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100</a:t>
            </a:r>
          </a:p>
        </p:txBody>
      </p:sp>
      <p:sp>
        <p:nvSpPr>
          <p:cNvPr id="9" name="тыс.">
            <a:extLst xmlns:a="http://schemas.openxmlformats.org/drawingml/2006/main">
              <a:ext uri="{FF2B5EF4-FFF2-40B4-BE49-F238E27FC236}">
                <a16:creationId xmlns:a16="http://schemas.microsoft.com/office/drawing/2014/main" id="{DBA63241-EC6F-4699-906A-A80AD2FB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200400"/>
            <a:ext cx="15525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3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тыс.</a:t>
            </a:r>
          </a:p>
        </p:txBody>
      </p:sp>
      <p:sp>
        <p:nvSpPr>
          <p:cNvPr id="10" name="подписчиков">
            <a:extLst xmlns:a="http://schemas.openxmlformats.org/drawingml/2006/main">
              <a:ext uri="{FF2B5EF4-FFF2-40B4-BE49-F238E27FC236}">
                <a16:creationId xmlns:a16="http://schemas.microsoft.com/office/drawing/2014/main" id="{A14590A1-69CB-44B7-B6C1-DEA9BFFB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24325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7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подписчиков</a:t>
            </a:r>
          </a:p>
        </p:txBody>
      </p:sp>
      <p:sp>
        <p:nvSpPr>
          <p:cNvPr id="11" name="суммарно в социальных сетях">
            <a:extLst xmlns:a="http://schemas.openxmlformats.org/drawingml/2006/main">
              <a:ext uri="{FF2B5EF4-FFF2-40B4-BE49-F238E27FC236}">
                <a16:creationId xmlns:a16="http://schemas.microsoft.com/office/drawing/2014/main" id="{899F8A03-DD43-420F-BF9B-59985A0E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72440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650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суммарно в социальных сетях</a:t>
            </a:r>
          </a:p>
        </p:txBody>
      </p:sp>
      <p:sp>
        <p:nvSpPr>
          <p:cNvPr id="12" name="Совокупные показатели по данным команды пр">
            <a:extLst xmlns:a="http://schemas.openxmlformats.org/drawingml/2006/main">
              <a:ext uri="{FF2B5EF4-FFF2-40B4-BE49-F238E27FC236}">
                <a16:creationId xmlns:a16="http://schemas.microsoft.com/office/drawing/2014/main" id="{AB4F357B-F58A-4349-8F22-A615E097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34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Совокупные показатели по данным команды проекта. Просмотры не равны числу уникальных зрителей.</a:t>
            </a:r>
          </a:p>
        </p:txBody>
      </p:sp>
      <p:sp>
        <p:nvSpPr>
          <p:cNvPr id="13" name="НАНОБОТЫ">
            <a:extLst xmlns:a="http://schemas.openxmlformats.org/drawingml/2006/main">
              <a:ext uri="{FF2B5EF4-FFF2-40B4-BE49-F238E27FC236}">
                <a16:creationId xmlns:a16="http://schemas.microsoft.com/office/drawing/2014/main" id="{FFB4CBA3-7B86-4108-92C0-371FAE95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НАНОБОТЫ</a:t>
            </a:r>
          </a:p>
        </p:txBody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77594D4B-D501-4538-8FAA-F0701E45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998511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Кто нас смотрит">
            <a:extLst xmlns:a="http://schemas.openxmlformats.org/drawingml/2006/main">
              <a:ext uri="{FF2B5EF4-FFF2-40B4-BE49-F238E27FC236}">
                <a16:creationId xmlns:a16="http://schemas.microsoft.com/office/drawing/2014/main" id="{8DCBD163-585F-4B39-BBFD-2F2F9B9B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Кто нас смотрит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00B37897-F478-417E-9B32-312E9C32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19275"/>
            <a:ext cx="904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01</a:t>
            </a:r>
          </a:p>
        </p:txBody>
      </p:sp>
      <p:sp>
        <p:nvSpPr>
          <p:cNvPr id="3" name="Дети-школьники&#10;и родители">
            <a:extLst xmlns:a="http://schemas.openxmlformats.org/drawingml/2006/main">
              <a:ext uri="{FF2B5EF4-FFF2-40B4-BE49-F238E27FC236}">
                <a16:creationId xmlns:a16="http://schemas.microsoft.com/office/drawing/2014/main" id="{2A2726DA-9B2C-4B85-A061-8F8F6B79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Дети-школьники</a:t>
            </a:r>
          </a:p>
          <a:p xmlns:a="http://schemas.openxmlformats.org/drawingml/2006/main">
            <a: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и родители</a:t>
            </a:r>
          </a:p>
        </p:txBody>
      </p:sp>
      <p:sp>
        <p:nvSpPr>
          <p:cNvPr id="4" name="Узнают, как устроено тело, находят понятны">
            <a:extLst xmlns:a="http://schemas.openxmlformats.org/drawingml/2006/main">
              <a:ext uri="{FF2B5EF4-FFF2-40B4-BE49-F238E27FC236}">
                <a16:creationId xmlns:a16="http://schemas.microsoft.com/office/drawing/2014/main" id="{44509D13-3E25-40C5-B6A3-49973238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43325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Узнают, как устроено тело, находят понятные ответы и обсуждают открытия всей семьёй.</a:t>
            </a:r>
          </a:p>
        </p:txBody>
      </p:sp>
      <p:sp>
        <p:nvSpPr>
          <p:cNvPr id="5" name="Совместный просмотр&#10;Учёба и здоровье">
            <a:extLst xmlns:a="http://schemas.openxmlformats.org/drawingml/2006/main">
              <a:ext uri="{FF2B5EF4-FFF2-40B4-BE49-F238E27FC236}">
                <a16:creationId xmlns:a16="http://schemas.microsoft.com/office/drawing/2014/main" id="{39A3F0BA-3B36-46E6-80CC-0A96CB55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333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Совместный просмотр</a:t>
            </a:r>
          </a:p>
          <a:p xmlns:a="http://schemas.openxmlformats.org/drawingml/2006/main">
            <a:pPr>
              <a:def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650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Учёба и здоровье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776D829B-7191-4942-A5BB-8271C21E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19275"/>
            <a:ext cx="904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defPPr>
            <a:lvl1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1pPr>
            <a:lvl2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2pPr>
            <a:lvl3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3pPr>
            <a:lvl4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4pPr>
            <a:lvl5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5pPr>
            <a:lvl6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6pPr>
            <a:lvl7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7pPr>
            <a:lvl8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8pPr>
            <a:lvl9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pPr>
            <a:r>
              <a:rPr sz="3600" b="1">
                <a:solidFill>
                  <a:srgbClr val="F73D78"/>
                </a:solidFill>
                <a:latin typeface="Geologica"/>
                <a:ea typeface="Geologica"/>
                <a:cs typeface="Geologica"/>
              </a:rPr>
              <a:t>02</a:t>
            </a:r>
          </a:p>
        </p:txBody>
      </p:sp>
      <p:sp>
        <p:nvSpPr>
          <p:cNvPr id="7" name="Молодёжь">
            <a:extLst xmlns:a="http://schemas.openxmlformats.org/drawingml/2006/main">
              <a:ext uri="{FF2B5EF4-FFF2-40B4-BE49-F238E27FC236}">
                <a16:creationId xmlns:a16="http://schemas.microsoft.com/office/drawing/2014/main" id="{CF41CD1E-7B69-4052-BE1E-61C0A2A5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76525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Молодёжь</a:t>
            </a:r>
          </a:p>
        </p:txBody>
      </p:sp>
      <p:sp>
        <p:nvSpPr>
          <p:cNvPr id="8" name="Смотрят динамичные истории, знакомятся с г">
            <a:extLst xmlns:a="http://schemas.openxmlformats.org/drawingml/2006/main">
              <a:ext uri="{FF2B5EF4-FFF2-40B4-BE49-F238E27FC236}">
                <a16:creationId xmlns:a16="http://schemas.microsoft.com/office/drawing/2014/main" id="{FB8B8F5B-D831-4EB4-82E4-7C2661C2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43325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Смотрят динамичные истории, знакомятся с героями и открывают науку в увлекательном формате.</a:t>
            </a:r>
          </a:p>
        </p:txBody>
      </p:sp>
      <p:sp>
        <p:nvSpPr>
          <p:cNvPr id="9" name="Короткие видео&#10;Новые знания">
            <a:extLst xmlns:a="http://schemas.openxmlformats.org/drawingml/2006/main">
              <a:ext uri="{FF2B5EF4-FFF2-40B4-BE49-F238E27FC236}">
                <a16:creationId xmlns:a16="http://schemas.microsoft.com/office/drawing/2014/main" id="{844A2B99-72B0-4E73-BB8C-79CE8F13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238750"/>
            <a:ext cx="3333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defPPr>
            <a:lvl1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1pPr>
            <a:lvl2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2pPr>
            <a:lvl3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3pPr>
            <a:lvl4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4pPr>
            <a:lvl5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5pPr>
            <a:lvl6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6pPr>
            <a:lvl7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7pPr>
            <a:lvl8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8pPr>
            <a:lvl9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pPr>
            <a:r>
              <a: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rPr>
              <a:t>Короткие видео</a:t>
            </a:r>
          </a:p>
          <a:p xmlns:a="http://schemas.openxmlformats.org/drawingml/2006/main">
            <a:pPr>
              <a:def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pPr>
            <a:r>
              <a:rPr sz="1650" b="1">
                <a:solidFill>
                  <a:srgbClr val="F73D78"/>
                </a:solidFill>
                <a:latin typeface="Geologica"/>
                <a:ea typeface="Geologica"/>
                <a:cs typeface="Geologica"/>
              </a:rPr>
              <a:t>Новые знания</a:t>
            </a:r>
          </a:p>
        </p:txBody>
      </p:sp>
      <p:sp>
        <p:nvSpPr>
          <p:cNvPr id="10" name="03">
            <a:extLst xmlns:a="http://schemas.openxmlformats.org/drawingml/2006/main">
              <a:ext uri="{FF2B5EF4-FFF2-40B4-BE49-F238E27FC236}">
                <a16:creationId xmlns:a16="http://schemas.microsoft.com/office/drawing/2014/main" id="{9976481F-C1F5-4777-92C2-1B1898CA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19275"/>
            <a:ext cx="904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defPPr>
            <a:lvl1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1pPr>
            <a:lvl2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2pPr>
            <a:lvl3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3pPr>
            <a:lvl4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4pPr>
            <a:lvl5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5pPr>
            <a:lvl6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6pPr>
            <a:lvl7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7pPr>
            <a:lvl8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8pPr>
            <a:lvl9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pPr>
            <a:r>
              <a:rPr sz="3600" b="1">
                <a:solidFill>
                  <a:srgbClr val="8963C8"/>
                </a:solidFill>
                <a:latin typeface="Geologica"/>
                <a:ea typeface="Geologica"/>
                <a:cs typeface="Geologica"/>
              </a:rPr>
              <a:t>03</a:t>
            </a:r>
          </a:p>
        </p:txBody>
      </p:sp>
      <p:sp>
        <p:nvSpPr>
          <p:cNvPr id="11" name="Взрослые&#10;без детей">
            <a:extLst xmlns:a="http://schemas.openxmlformats.org/drawingml/2006/main">
              <a:ext uri="{FF2B5EF4-FFF2-40B4-BE49-F238E27FC236}">
                <a16:creationId xmlns:a16="http://schemas.microsoft.com/office/drawing/2014/main" id="{58F936C7-5654-42A0-BD14-33121039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76525"/>
            <a:ext cx="333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Взрослые</a:t>
            </a:r>
          </a:p>
          <a:p xmlns:a="http://schemas.openxmlformats.org/drawingml/2006/main">
            <a:pPr>
              <a:def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2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без детей</a:t>
            </a:r>
          </a:p>
        </p:txBody>
      </p:sp>
      <p:sp>
        <p:nvSpPr>
          <p:cNvPr id="12" name="Хотят узнать что-то новое о своём организм">
            <a:extLst xmlns:a="http://schemas.openxmlformats.org/drawingml/2006/main">
              <a:ext uri="{FF2B5EF4-FFF2-40B4-BE49-F238E27FC236}">
                <a16:creationId xmlns:a16="http://schemas.microsoft.com/office/drawing/2014/main" id="{17C2586F-C2A9-42BF-A2A5-F6158310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43325"/>
            <a:ext cx="333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Хотят узнать что-то новое о своём организме и разобраться, как он работает.</a:t>
            </a:r>
          </a:p>
        </p:txBody>
      </p:sp>
      <p:sp>
        <p:nvSpPr>
          <p:cNvPr id="13" name="Свой организм&#10;Понятная наука">
            <a:extLst xmlns:a="http://schemas.openxmlformats.org/drawingml/2006/main">
              <a:ext uri="{FF2B5EF4-FFF2-40B4-BE49-F238E27FC236}">
                <a16:creationId xmlns:a16="http://schemas.microsoft.com/office/drawing/2014/main" id="{75AEC50B-9B1C-41C3-BD5C-4843D851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238750"/>
            <a:ext cx="3333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defPPr>
            <a:lvl1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1pPr>
            <a:lvl2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2pPr>
            <a:lvl3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3pPr>
            <a:lvl4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4pPr>
            <a:lvl5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5pPr>
            <a:lvl6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6pPr>
            <a:lvl7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7pPr>
            <a:lvl8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8pPr>
            <a:lvl9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pPr>
            <a:r>
              <a: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rPr>
              <a:t>Свой организм</a:t>
            </a:r>
          </a:p>
          <a:p xmlns:a="http://schemas.openxmlformats.org/drawingml/2006/main">
            <a:pPr>
              <a:def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defRPr>
            </a:pPr>
            <a:r>
              <a:rPr sz="1650" b="1">
                <a:solidFill>
                  <a:srgbClr val="8963C8"/>
                </a:solidFill>
                <a:latin typeface="Geologica"/>
                <a:ea typeface="Geologica"/>
                <a:cs typeface="Geologica"/>
              </a:rPr>
              <a:t>Понятная наука</a:t>
            </a:r>
          </a:p>
        </p:txBody>
      </p:sp>
      <p:sp>
        <p:nvSpPr>
          <p:cNvPr id="14" name="Портрет аудитории по материалам команды за">
            <a:extLst xmlns:a="http://schemas.openxmlformats.org/drawingml/2006/main">
              <a:ext uri="{FF2B5EF4-FFF2-40B4-BE49-F238E27FC236}">
                <a16:creationId xmlns:a16="http://schemas.microsoft.com/office/drawing/2014/main" id="{E1235775-5B75-4749-BAAB-856D880A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34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Портрет аудитории по материалам команды за июль - октябрь 2025 года</a:t>
            </a:r>
          </a:p>
        </p:txBody>
      </p:sp>
      <p:sp>
        <p:nvSpPr>
          <p:cNvPr id="15" name="НАНОБОТЫ">
            <a:extLst xmlns:a="http://schemas.openxmlformats.org/drawingml/2006/main">
              <a:ext uri="{FF2B5EF4-FFF2-40B4-BE49-F238E27FC236}">
                <a16:creationId xmlns:a16="http://schemas.microsoft.com/office/drawing/2014/main" id="{53F7BEF5-10CB-45AC-8075-192C9338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НАНОБОТЫ</a:t>
            </a:r>
          </a:p>
        </p:txBody>
      </p:sp>
      <p:sp>
        <p:nvSpPr>
          <p:cNvPr id="16" name="04">
            <a:extLst xmlns:a="http://schemas.openxmlformats.org/drawingml/2006/main">
              <a:ext uri="{FF2B5EF4-FFF2-40B4-BE49-F238E27FC236}">
                <a16:creationId xmlns:a16="http://schemas.microsoft.com/office/drawing/2014/main" id="{F25D4180-F51D-4AC3-9516-B93D00E1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395388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EE9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Возраст и география">
            <a:extLst xmlns:a="http://schemas.openxmlformats.org/drawingml/2006/main">
              <a:ext uri="{FF2B5EF4-FFF2-40B4-BE49-F238E27FC236}">
                <a16:creationId xmlns:a16="http://schemas.microsoft.com/office/drawing/2014/main" id="{229E05C5-A5CB-44B8-8389-DA9B5B03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Возраст и география</a:t>
            </a:r>
          </a:p>
        </p:txBody>
      </p:sp>
      <p:sp>
        <p:nvSpPr>
          <p:cNvPr id="2" name="Июль - октябрь 2025">
            <a:extLst xmlns:a="http://schemas.openxmlformats.org/drawingml/2006/main">
              <a:ext uri="{FF2B5EF4-FFF2-40B4-BE49-F238E27FC236}">
                <a16:creationId xmlns:a16="http://schemas.microsoft.com/office/drawing/2014/main" id="{FF37D8B1-1898-43D0-A27D-75B01A65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Июль - октябрь 2025</a:t>
            </a:r>
          </a:p>
        </p:txBody>
      </p:sp>
      <p:sp>
        <p:nvSpPr>
          <p:cNvPr id="3" name="Возрастные группы">
            <a:extLst xmlns:a="http://schemas.openxmlformats.org/drawingml/2006/main">
              <a:ext uri="{FF2B5EF4-FFF2-40B4-BE49-F238E27FC236}">
                <a16:creationId xmlns:a16="http://schemas.microsoft.com/office/drawing/2014/main" id="{9340E60D-9890-44A4-8B46-B28500A6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Возрастные группы</a:t>
            </a:r>
          </a:p>
        </p:txBody>
      </p:sp>
      <p:sp>
        <p:nvSpPr>
          <p:cNvPr id="4" name="до 18">
            <a:extLst xmlns:a="http://schemas.openxmlformats.org/drawingml/2006/main">
              <a:ext uri="{FF2B5EF4-FFF2-40B4-BE49-F238E27FC236}">
                <a16:creationId xmlns:a16="http://schemas.microsoft.com/office/drawing/2014/main" id="{9203250E-19F5-4C0F-8432-8B966B95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до 18</a:t>
            </a:r>
          </a:p>
        </p:txBody>
      </p:sp>
      <p:sp>
        <p:nvSpPr>
          <p:cNvPr id="5" name="лет">
            <a:extLst xmlns:a="http://schemas.openxmlformats.org/drawingml/2006/main">
              <a:ext uri="{FF2B5EF4-FFF2-40B4-BE49-F238E27FC236}">
                <a16:creationId xmlns:a16="http://schemas.microsoft.com/office/drawing/2014/main" id="{12D0D210-5991-4E39-B6CE-3CDDC998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лет</a:t>
            </a:r>
          </a:p>
        </p:txBody>
      </p:sp>
      <p:sp>
        <p:nvSpPr>
          <p:cNvPr id="6" name="18 - 24">
            <a:extLst xmlns:a="http://schemas.openxmlformats.org/drawingml/2006/main">
              <a:ext uri="{FF2B5EF4-FFF2-40B4-BE49-F238E27FC236}">
                <a16:creationId xmlns:a16="http://schemas.microsoft.com/office/drawing/2014/main" id="{DFF8B123-CC98-4815-BDBC-043D992F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8003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18 - 24</a:t>
            </a:r>
          </a:p>
        </p:txBody>
      </p:sp>
      <p:sp>
        <p:nvSpPr>
          <p:cNvPr id="7" name="года">
            <a:extLst xmlns:a="http://schemas.openxmlformats.org/drawingml/2006/main">
              <a:ext uri="{FF2B5EF4-FFF2-40B4-BE49-F238E27FC236}">
                <a16:creationId xmlns:a16="http://schemas.microsoft.com/office/drawing/2014/main" id="{FE8FB70B-C921-42E4-AD9C-75E5D30A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4766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года</a:t>
            </a:r>
          </a:p>
        </p:txBody>
      </p:sp>
      <p:sp>
        <p:nvSpPr>
          <p:cNvPr id="8" name="25 - 34">
            <a:extLst xmlns:a="http://schemas.openxmlformats.org/drawingml/2006/main">
              <a:ext uri="{FF2B5EF4-FFF2-40B4-BE49-F238E27FC236}">
                <a16:creationId xmlns:a16="http://schemas.microsoft.com/office/drawing/2014/main" id="{416E6C74-F1FB-4F50-9A2A-42F562E4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03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6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25 - 34</a:t>
            </a:r>
          </a:p>
        </p:txBody>
      </p:sp>
      <p:sp>
        <p:nvSpPr>
          <p:cNvPr id="9" name="года">
            <a:extLst xmlns:a="http://schemas.openxmlformats.org/drawingml/2006/main">
              <a:ext uri="{FF2B5EF4-FFF2-40B4-BE49-F238E27FC236}">
                <a16:creationId xmlns:a16="http://schemas.microsoft.com/office/drawing/2014/main" id="{E35AEAEC-A042-4A6E-AEFC-2AED589A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766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года</a:t>
            </a:r>
          </a:p>
        </p:txBody>
      </p:sp>
      <p:sp>
        <p:nvSpPr>
          <p:cNvPr id="10" name="35 - 44">
            <a:extLst xmlns:a="http://schemas.openxmlformats.org/drawingml/2006/main">
              <a:ext uri="{FF2B5EF4-FFF2-40B4-BE49-F238E27FC236}">
                <a16:creationId xmlns:a16="http://schemas.microsoft.com/office/drawing/2014/main" id="{AC77CCC0-9B6B-4FC3-95C5-6791A36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8003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3600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35 - 44</a:t>
            </a:r>
          </a:p>
        </p:txBody>
      </p:sp>
      <p:sp>
        <p:nvSpPr>
          <p:cNvPr id="11" name="года">
            <a:extLst xmlns:a="http://schemas.openxmlformats.org/drawingml/2006/main">
              <a:ext uri="{FF2B5EF4-FFF2-40B4-BE49-F238E27FC236}">
                <a16:creationId xmlns:a16="http://schemas.microsoft.com/office/drawing/2014/main" id="{3EF2A5D8-14BD-44C6-85C2-2F4AA138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4766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года</a:t>
            </a:r>
          </a:p>
        </p:txBody>
      </p:sp>
      <p:sp>
        <p:nvSpPr>
          <p:cNvPr id="12" name="Страны аудитории">
            <a:extLst xmlns:a="http://schemas.openxmlformats.org/drawingml/2006/main">
              <a:ext uri="{FF2B5EF4-FFF2-40B4-BE49-F238E27FC236}">
                <a16:creationId xmlns:a16="http://schemas.microsoft.com/office/drawing/2014/main" id="{DCFE7564-D9C0-44C3-846A-43A19645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Страны аудитории</a:t>
            </a:r>
          </a:p>
        </p:txBody>
      </p:sp>
      <p:sp>
        <p:nvSpPr>
          <p:cNvPr id="13" name="Россия     Казахстан     Беларусь&#10;Кыргызст">
            <a:extLst xmlns:a="http://schemas.openxmlformats.org/drawingml/2006/main">
              <a:ext uri="{FF2B5EF4-FFF2-40B4-BE49-F238E27FC236}">
                <a16:creationId xmlns:a16="http://schemas.microsoft.com/office/drawing/2014/main" id="{71343F02-498E-4164-9FA0-E70541E7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76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Россия     Казахстан     Беларусь</a:t>
            </a:r>
          </a:p>
          <a:p xmlns:a="http://schemas.openxmlformats.org/drawingml/2006/main">
            <a:pPr>
              <a:def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250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Кыргызстан     Украина</a:t>
            </a:r>
          </a:p>
        </p:txBody>
      </p:sp>
      <p:sp>
        <p:nvSpPr>
          <p:cNvPr id="14" name="Группы и страны из доступной аналитики, бе">
            <a:extLst xmlns:a="http://schemas.openxmlformats.org/drawingml/2006/main">
              <a:ext uri="{FF2B5EF4-FFF2-40B4-BE49-F238E27FC236}">
                <a16:creationId xmlns:a16="http://schemas.microsoft.com/office/drawing/2014/main" id="{FD32F1E1-6CEC-485D-BC81-BCC975B3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34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Группы и страны из доступной аналитики, без сравнения долей. Возраст аккаунтов может отличаться от возраста зрителей при семейном просмотре.</a:t>
            </a:r>
          </a:p>
        </p:txBody>
      </p:sp>
      <p:sp>
        <p:nvSpPr>
          <p:cNvPr id="15" name="НАНОБОТЫ">
            <a:extLst xmlns:a="http://schemas.openxmlformats.org/drawingml/2006/main">
              <a:ext uri="{FF2B5EF4-FFF2-40B4-BE49-F238E27FC236}">
                <a16:creationId xmlns:a16="http://schemas.microsoft.com/office/drawing/2014/main" id="{7B3ACF33-F9FD-47DE-8CF9-DED2A886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НАНОБОТЫ</a:t>
            </a:r>
          </a:p>
        </p:txBody>
      </p:sp>
      <p:sp>
        <p:nvSpPr>
          <p:cNvPr id="16" name="05">
            <a:extLst xmlns:a="http://schemas.openxmlformats.org/drawingml/2006/main">
              <a:ext uri="{FF2B5EF4-FFF2-40B4-BE49-F238E27FC236}">
                <a16:creationId xmlns:a16="http://schemas.microsoft.com/office/drawing/2014/main" id="{8B365B05-0B48-41F1-918F-736DFFEB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33499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Состав аудитории">
            <a:extLst xmlns:a="http://schemas.openxmlformats.org/drawingml/2006/main">
              <a:ext uri="{FF2B5EF4-FFF2-40B4-BE49-F238E27FC236}">
                <a16:creationId xmlns:a16="http://schemas.microsoft.com/office/drawing/2014/main" id="{A306AA2E-A010-4D12-A00B-8B12787A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Состав аудитории</a:t>
            </a:r>
          </a:p>
        </p:txBody>
      </p:sp>
      <p:sp>
        <p:nvSpPr>
          <p:cNvPr id="2" name="Расчётная оценка по четырём площадкам">
            <a:extLst xmlns:a="http://schemas.openxmlformats.org/drawingml/2006/main">
              <a:ext uri="{FF2B5EF4-FFF2-40B4-BE49-F238E27FC236}">
                <a16:creationId xmlns:a16="http://schemas.microsoft.com/office/drawing/2014/main" id="{75148823-5C7B-4512-9D7A-EA3E75A9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65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Расчётная оценка по четырём площадкам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5468D143-BFCC-45FE-B496-ED42928FABC3}"/>
              </a:ext>
            </a:extLst>
          </p:cNvPr>
          <p:cNvGraphicFramePr/>
          <p:nvPr/>
        </p:nvGraphicFramePr>
        <p:xfrm>
          <a:off xmlns:a="http://schemas.openxmlformats.org/drawingml/2006/main" x="619125" y="2009775"/>
          <a:ext xmlns:a="http://schemas.openxmlformats.org/drawingml/2006/main" cx="4229100" cy="3409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e0c7ebbe9742ed"/>
          </a:graphicData>
        </a:graphic>
      </p:graphicFrame>
      <p:sp>
        <p:nvSpPr>
          <p:cNvPr id="4" name="Июль - октябрь&#10;2025">
            <a:extLst xmlns:a="http://schemas.openxmlformats.org/drawingml/2006/main">
              <a:ext uri="{FF2B5EF4-FFF2-40B4-BE49-F238E27FC236}">
                <a16:creationId xmlns:a16="http://schemas.microsoft.com/office/drawing/2014/main" id="{83D9C033-3BD4-43E7-9C19-5980C87B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81375"/>
            <a:ext cx="2609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Июль - октябрь</a:t>
            </a:r>
          </a:p>
          <a:p xmlns:a="http://schemas.openxmlformats.org/drawingml/2006/main">
            <a:pPr algn="ctr">
              <a:def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2025</a:t>
            </a:r>
          </a:p>
        </p:txBody>
      </p:sp>
      <p:sp>
        <p:nvSpPr>
          <p:cNvPr id="5" name="52,4%">
            <a:extLst xmlns:a="http://schemas.openxmlformats.org/drawingml/2006/main">
              <a:ext uri="{FF2B5EF4-FFF2-40B4-BE49-F238E27FC236}">
                <a16:creationId xmlns:a16="http://schemas.microsoft.com/office/drawing/2014/main" id="{8812F115-20D3-4C07-84B3-295CE89A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383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defPPr>
            <a:lvl1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1pPr>
            <a:lvl2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2pPr>
            <a:lvl3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3pPr>
            <a:lvl4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4pPr>
            <a:lvl5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5pPr>
            <a:lvl6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6pPr>
            <a:lvl7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7pPr>
            <a:lvl8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8pPr>
            <a:lvl9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pPr>
            <a:r>
              <a:rPr sz="5625" b="1">
                <a:solidFill>
                  <a:srgbClr val="F73D78"/>
                </a:solidFill>
                <a:latin typeface="Geologica"/>
                <a:ea typeface="Geologica"/>
                <a:cs typeface="Geologica"/>
              </a:rPr>
              <a:t>52,4%</a:t>
            </a:r>
          </a:p>
        </p:txBody>
      </p:sp>
      <p:sp>
        <p:nvSpPr>
          <p:cNvPr id="6" name="Женщины">
            <a:extLst xmlns:a="http://schemas.openxmlformats.org/drawingml/2006/main">
              <a:ext uri="{FF2B5EF4-FFF2-40B4-BE49-F238E27FC236}">
                <a16:creationId xmlns:a16="http://schemas.microsoft.com/office/drawing/2014/main" id="{688063D9-3E88-4035-B0BF-E1CD1826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943225"/>
            <a:ext cx="5095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Женщины</a:t>
            </a:r>
          </a:p>
        </p:txBody>
      </p:sp>
      <p:sp>
        <p:nvSpPr>
          <p:cNvPr id="7" name="46,9%">
            <a:extLst xmlns:a="http://schemas.openxmlformats.org/drawingml/2006/main">
              <a:ext uri="{FF2B5EF4-FFF2-40B4-BE49-F238E27FC236}">
                <a16:creationId xmlns:a16="http://schemas.microsoft.com/office/drawing/2014/main" id="{D368D19B-2C4F-49D0-8DAB-D9F9C571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5623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56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46,9%</a:t>
            </a:r>
          </a:p>
        </p:txBody>
      </p:sp>
      <p:sp>
        <p:nvSpPr>
          <p:cNvPr id="8" name="Мужчины">
            <a:extLst xmlns:a="http://schemas.openxmlformats.org/drawingml/2006/main">
              <a:ext uri="{FF2B5EF4-FFF2-40B4-BE49-F238E27FC236}">
                <a16:creationId xmlns:a16="http://schemas.microsoft.com/office/drawing/2014/main" id="{94FE5EC9-893D-40EE-961C-72F1CE9F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467225"/>
            <a:ext cx="5095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Мужчины</a:t>
            </a:r>
          </a:p>
        </p:txBody>
      </p:sp>
      <p:sp>
        <p:nvSpPr>
          <p:cNvPr id="9" name="0,7% без разбивки в источнике">
            <a:extLst xmlns:a="http://schemas.openxmlformats.org/drawingml/2006/main">
              <a:ext uri="{FF2B5EF4-FFF2-40B4-BE49-F238E27FC236}">
                <a16:creationId xmlns:a16="http://schemas.microsoft.com/office/drawing/2014/main" id="{FA455486-26B2-46B0-9500-78AE27A4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191125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5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0,7% без разбивки в источнике</a:t>
            </a:r>
          </a:p>
        </p:txBody>
      </p:sp>
      <p:sp>
        <p:nvSpPr>
          <p:cNvPr id="10" name="Доли YouTube, ВКонтакте, Likee и TikTok вз">
            <a:extLst xmlns:a="http://schemas.openxmlformats.org/drawingml/2006/main">
              <a:ext uri="{FF2B5EF4-FFF2-40B4-BE49-F238E27FC236}">
                <a16:creationId xmlns:a16="http://schemas.microsoft.com/office/drawing/2014/main" id="{C1190EAC-DFDC-4EFC-9679-6B48D328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34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Доли YouTube, ВКонтакте, Likee и TikTok взвешены по 64 502 подпискам без устранения пересечений. Это ориентир по четырём площадкам, а не измерение всей уникальной аудитории.</a:t>
            </a:r>
          </a:p>
        </p:txBody>
      </p:sp>
      <p:sp>
        <p:nvSpPr>
          <p:cNvPr id="11" name="НАНОБОТЫ">
            <a:extLst xmlns:a="http://schemas.openxmlformats.org/drawingml/2006/main">
              <a:ext uri="{FF2B5EF4-FFF2-40B4-BE49-F238E27FC236}">
                <a16:creationId xmlns:a16="http://schemas.microsoft.com/office/drawing/2014/main" id="{3592343C-F564-4077-8E1C-46EE95DA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НАНОБОТЫ</a:t>
            </a:r>
          </a:p>
        </p:txBody>
      </p:sp>
      <p:sp>
        <p:nvSpPr>
          <p:cNvPr id="12" name="06">
            <a:extLst xmlns:a="http://schemas.openxmlformats.org/drawingml/2006/main">
              <a:ext uri="{FF2B5EF4-FFF2-40B4-BE49-F238E27FC236}">
                <a16:creationId xmlns:a16="http://schemas.microsoft.com/office/drawing/2014/main" id="{41F5D890-E3BB-4C8E-9093-149F2305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361918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Одна вселенная, восемь каналов">
            <a:extLst xmlns:a="http://schemas.openxmlformats.org/drawingml/2006/main">
              <a:ext uri="{FF2B5EF4-FFF2-40B4-BE49-F238E27FC236}">
                <a16:creationId xmlns:a16="http://schemas.microsoft.com/office/drawing/2014/main" id="{FC35A8A8-D9AA-4C49-9771-55E58F96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Одна вселенная, восемь каналов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B5F59-833F-4F72-9F22-4809EFE513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a1461be9947d4"/>
          <a:stretch xmlns:a="http://schemas.openxmlformats.org/drawingml/2006/main"/>
        </p:blipFill>
        <p:spPr>
          <a:xfrm xmlns:a="http://schemas.openxmlformats.org/drawingml/2006/main">
            <a:off x="609600" y="1990725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3" name="ВКонтакте">
            <a:extLst xmlns:a="http://schemas.openxmlformats.org/drawingml/2006/main">
              <a:ext uri="{FF2B5EF4-FFF2-40B4-BE49-F238E27FC236}">
                <a16:creationId xmlns:a16="http://schemas.microsoft.com/office/drawing/2014/main" id="{C32D1483-0C6A-4CAB-A71E-F5A1FB5B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2543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4cba3014d9964f16"/>
              </a:rPr>
              <a:t>ВКонтакте</a:t>
            </a:r>
          </a:p>
        </p:txBody>
      </p:sp>
      <p:sp>
        <p:nvSpPr>
          <p:cNvPr id="4" name="nanobotsmult">
            <a:extLst xmlns:a="http://schemas.openxmlformats.org/drawingml/2006/main">
              <a:ext uri="{FF2B5EF4-FFF2-40B4-BE49-F238E27FC236}">
                <a16:creationId xmlns:a16="http://schemas.microsoft.com/office/drawing/2014/main" id="{E6A7A3C7-3BCF-4C88-AAC9-9A2AD38A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2543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b8133657e2434136"/>
              </a:rPr>
              <a:t>nanobotsmult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3C08C-5766-4E9A-BF6C-14B70CB9BB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b2d0eedf834a71"/>
          <a:stretch xmlns:a="http://schemas.openxmlformats.org/drawingml/2006/main"/>
        </p:blipFill>
        <p:spPr>
          <a:xfrm xmlns:a="http://schemas.openxmlformats.org/drawingml/2006/main">
            <a:off x="3400425" y="1990725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6" name="YouTube">
            <a:extLst xmlns:a="http://schemas.openxmlformats.org/drawingml/2006/main">
              <a:ext uri="{FF2B5EF4-FFF2-40B4-BE49-F238E27FC236}">
                <a16:creationId xmlns:a16="http://schemas.microsoft.com/office/drawing/2014/main" id="{7627C7C3-1F7B-4CFB-8E46-F778644F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43200"/>
            <a:ext cx="2543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2e8adfdb95794396"/>
              </a:rPr>
              <a:t>YouTube</a:t>
            </a:r>
          </a:p>
        </p:txBody>
      </p:sp>
      <p:sp>
        <p:nvSpPr>
          <p:cNvPr id="7" name="@nanobots_mult">
            <a:extLst xmlns:a="http://schemas.openxmlformats.org/drawingml/2006/main">
              <a:ext uri="{FF2B5EF4-FFF2-40B4-BE49-F238E27FC236}">
                <a16:creationId xmlns:a16="http://schemas.microsoft.com/office/drawing/2014/main" id="{B63A1CFB-DE95-4980-9A4F-7EB76605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19450"/>
            <a:ext cx="2543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75984a38f77d4dbc"/>
              </a:rPr>
              <a:t>@nanobots_mult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C133C-9B6B-4037-8423-B603189BDC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833564646d45d0"/>
          <a:stretch xmlns:a="http://schemas.openxmlformats.org/drawingml/2006/main"/>
        </p:blipFill>
        <p:spPr>
          <a:xfrm xmlns:a="http://schemas.openxmlformats.org/drawingml/2006/main">
            <a:off x="6191250" y="1990725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9" name="Rutube">
            <a:extLst xmlns:a="http://schemas.openxmlformats.org/drawingml/2006/main">
              <a:ext uri="{FF2B5EF4-FFF2-40B4-BE49-F238E27FC236}">
                <a16:creationId xmlns:a16="http://schemas.microsoft.com/office/drawing/2014/main" id="{993CB57B-40E6-416E-B8E5-4216F8CB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43200"/>
            <a:ext cx="2543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039131ee273b4e07"/>
              </a:rPr>
              <a:t>Rutube</a:t>
            </a:r>
          </a:p>
        </p:txBody>
      </p:sp>
      <p:sp>
        <p:nvSpPr>
          <p:cNvPr id="10" name="Канал НАНОБОТОВ">
            <a:extLst xmlns:a="http://schemas.openxmlformats.org/drawingml/2006/main">
              <a:ext uri="{FF2B5EF4-FFF2-40B4-BE49-F238E27FC236}">
                <a16:creationId xmlns:a16="http://schemas.microsoft.com/office/drawing/2014/main" id="{FF14DCED-0AFF-40DD-97B3-844CEDCB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19450"/>
            <a:ext cx="2543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0a1193165b074627"/>
              </a:rPr>
              <a:t>Канал НАНОБОТОВ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DD641-6C4E-4C93-9EF4-7CAEB825CB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09fedd8b54aef"/>
          <a:stretch xmlns:a="http://schemas.openxmlformats.org/drawingml/2006/main"/>
        </p:blipFill>
        <p:spPr>
          <a:xfrm xmlns:a="http://schemas.openxmlformats.org/drawingml/2006/main">
            <a:off x="8982075" y="1990725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12" name="TikTok">
            <a:extLst xmlns:a="http://schemas.openxmlformats.org/drawingml/2006/main">
              <a:ext uri="{FF2B5EF4-FFF2-40B4-BE49-F238E27FC236}">
                <a16:creationId xmlns:a16="http://schemas.microsoft.com/office/drawing/2014/main" id="{74C7596C-BDF8-4402-B5E5-E6E0DE3C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743200"/>
            <a:ext cx="2543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c1dbf93d674e4b3c"/>
              </a:rPr>
              <a:t>TikTok</a:t>
            </a:r>
          </a:p>
        </p:txBody>
      </p:sp>
      <p:sp>
        <p:nvSpPr>
          <p:cNvPr id="13" name="@nanobots_mult1">
            <a:extLst xmlns:a="http://schemas.openxmlformats.org/drawingml/2006/main">
              <a:ext uri="{FF2B5EF4-FFF2-40B4-BE49-F238E27FC236}">
                <a16:creationId xmlns:a16="http://schemas.microsoft.com/office/drawing/2014/main" id="{5150177F-3C84-4ED1-8D02-8A6B77EC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219450"/>
            <a:ext cx="2543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e76646450a094dba"/>
              </a:rPr>
              <a:t>@nanobots_mult1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BDB6E1-54E2-45AC-9A03-7674492D02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e3a97b82b4eb7"/>
          <a:stretch xmlns:a="http://schemas.openxmlformats.org/drawingml/2006/main"/>
        </p:blipFill>
        <p:spPr>
          <a:xfrm xmlns:a="http://schemas.openxmlformats.org/drawingml/2006/main">
            <a:off x="609600" y="401955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15" name="Likee">
            <a:extLst xmlns:a="http://schemas.openxmlformats.org/drawingml/2006/main">
              <a:ext uri="{FF2B5EF4-FFF2-40B4-BE49-F238E27FC236}">
                <a16:creationId xmlns:a16="http://schemas.microsoft.com/office/drawing/2014/main" id="{EA0D3640-3B34-4505-A4D7-ED7BF7E9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2543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7f21b4d1a6934bc5"/>
              </a:rPr>
              <a:t>Likee</a:t>
            </a:r>
          </a:p>
        </p:txBody>
      </p:sp>
      <p:sp>
        <p:nvSpPr>
          <p:cNvPr id="16" name="Канал НАНОБОТОВ">
            <a:extLst xmlns:a="http://schemas.openxmlformats.org/drawingml/2006/main">
              <a:ext uri="{FF2B5EF4-FFF2-40B4-BE49-F238E27FC236}">
                <a16:creationId xmlns:a16="http://schemas.microsoft.com/office/drawing/2014/main" id="{8DAE5A83-C7FF-4A5F-A855-23CA198E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2543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94b2f34115df4c7b"/>
              </a:rPr>
              <a:t>Канал НАНОБОТОВ</a:t>
            </a:r>
          </a:p>
        </p:txBody>
      </p:sp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75CF82-4DF6-44FF-B63B-6502F13F21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413717dba4704"/>
          <a:stretch xmlns:a="http://schemas.openxmlformats.org/drawingml/2006/main"/>
        </p:blipFill>
        <p:spPr>
          <a:xfrm xmlns:a="http://schemas.openxmlformats.org/drawingml/2006/main">
            <a:off x="3400425" y="4027223"/>
            <a:ext cx="552450" cy="537104"/>
          </a:xfrm>
          <a:prstGeom xmlns:a="http://schemas.openxmlformats.org/drawingml/2006/main" prst="rect">
            <a:avLst/>
          </a:prstGeom>
        </p:spPr>
      </p:pic>
      <p:sp>
        <p:nvSpPr>
          <p:cNvPr id="18" name="Yappy">
            <a:extLst xmlns:a="http://schemas.openxmlformats.org/drawingml/2006/main">
              <a:ext uri="{FF2B5EF4-FFF2-40B4-BE49-F238E27FC236}">
                <a16:creationId xmlns:a16="http://schemas.microsoft.com/office/drawing/2014/main" id="{08ADB5FD-608F-4FE5-8C74-4CC0AB54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72025"/>
            <a:ext cx="2543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bdca42c3ccec410d"/>
              </a:rPr>
              <a:t>Yappy</a:t>
            </a:r>
          </a:p>
        </p:txBody>
      </p:sp>
      <p:sp>
        <p:nvSpPr>
          <p:cNvPr id="19" name="nanobots_mult">
            <a:extLst xmlns:a="http://schemas.openxmlformats.org/drawingml/2006/main">
              <a:ext uri="{FF2B5EF4-FFF2-40B4-BE49-F238E27FC236}">
                <a16:creationId xmlns:a16="http://schemas.microsoft.com/office/drawing/2014/main" id="{176B398C-B6F5-42E4-AFAC-D167F966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248275"/>
            <a:ext cx="2543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910e2a44167440e4"/>
              </a:rPr>
              <a:t>nanobots_mult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AC7BC7-2522-4038-BDBB-023D7971D0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c31265a514221"/>
          <a:stretch xmlns:a="http://schemas.openxmlformats.org/drawingml/2006/main"/>
        </p:blipFill>
        <p:spPr>
          <a:xfrm xmlns:a="http://schemas.openxmlformats.org/drawingml/2006/main">
            <a:off x="6191250" y="401955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21" name="MAX">
            <a:extLst xmlns:a="http://schemas.openxmlformats.org/drawingml/2006/main">
              <a:ext uri="{FF2B5EF4-FFF2-40B4-BE49-F238E27FC236}">
                <a16:creationId xmlns:a16="http://schemas.microsoft.com/office/drawing/2014/main" id="{7EEEC7C2-A6D7-4CAA-9813-1ACAF453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72025"/>
            <a:ext cx="2543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83ff95787904475c"/>
              </a:rPr>
              <a:t>MAX</a:t>
            </a:r>
          </a:p>
        </p:txBody>
      </p:sp>
      <p:sp>
        <p:nvSpPr>
          <p:cNvPr id="22" name="Канал НАНОБОТОВ">
            <a:extLst xmlns:a="http://schemas.openxmlformats.org/drawingml/2006/main">
              <a:ext uri="{FF2B5EF4-FFF2-40B4-BE49-F238E27FC236}">
                <a16:creationId xmlns:a16="http://schemas.microsoft.com/office/drawing/2014/main" id="{9115BA61-E762-472E-A3C0-FD4D0755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48275"/>
            <a:ext cx="2543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929c4e2beca041a3"/>
              </a:rPr>
              <a:t>Канал НАНОБОТОВ</a:t>
            </a:r>
          </a:p>
        </p:txBody>
      </p:sp>
      <p:pic>
        <p:nvPic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254ED9-BAAA-4640-B51B-EF74319B93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c63acb9704e27"/>
          <a:stretch xmlns:a="http://schemas.openxmlformats.org/drawingml/2006/main"/>
        </p:blipFill>
        <p:spPr>
          <a:xfrm xmlns:a="http://schemas.openxmlformats.org/drawingml/2006/main">
            <a:off x="8982075" y="401955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24" name="Telegram">
            <a:extLst xmlns:a="http://schemas.openxmlformats.org/drawingml/2006/main">
              <a:ext uri="{FF2B5EF4-FFF2-40B4-BE49-F238E27FC236}">
                <a16:creationId xmlns:a16="http://schemas.microsoft.com/office/drawing/2014/main" id="{79E083C1-34F1-4C80-812A-FD19D8B6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772025"/>
            <a:ext cx="25431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a2bb886db304490e"/>
              </a:rPr>
              <a:t>Telegram</a:t>
            </a:r>
          </a:p>
        </p:txBody>
      </p:sp>
      <p:sp>
        <p:nvSpPr>
          <p:cNvPr id="25" name="@nanobots_mult">
            <a:extLst xmlns:a="http://schemas.openxmlformats.org/drawingml/2006/main">
              <a:ext uri="{FF2B5EF4-FFF2-40B4-BE49-F238E27FC236}">
                <a16:creationId xmlns:a16="http://schemas.microsoft.com/office/drawing/2014/main" id="{ECDCCD98-0EA2-4032-8160-9512CE07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5248275"/>
            <a:ext cx="25431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c88ebc4134694703"/>
              </a:rPr>
              <a:t>@nanobots_mult</a:t>
            </a:r>
          </a:p>
        </p:txBody>
      </p:sp>
      <p:sp>
        <p:nvSpPr>
          <p:cNvPr id="26" name="Названия площадок и адреса каналов открыва">
            <a:extLst xmlns:a="http://schemas.openxmlformats.org/drawingml/2006/main">
              <a:ext uri="{FF2B5EF4-FFF2-40B4-BE49-F238E27FC236}">
                <a16:creationId xmlns:a16="http://schemas.microsoft.com/office/drawing/2014/main" id="{E3A63E43-7C14-49A5-A91E-EFEB3BB08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34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Названия площадок и адреса каналов открываются по нажатию</a:t>
            </a:r>
          </a:p>
        </p:txBody>
      </p:sp>
      <p:sp>
        <p:nvSpPr>
          <p:cNvPr id="27" name="НАНОБОТЫ">
            <a:extLst xmlns:a="http://schemas.openxmlformats.org/drawingml/2006/main">
              <a:ext uri="{FF2B5EF4-FFF2-40B4-BE49-F238E27FC236}">
                <a16:creationId xmlns:a16="http://schemas.microsoft.com/office/drawing/2014/main" id="{81CD51EC-0DF6-4A38-A1CD-220DE7F3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НАНОБОТЫ</a:t>
            </a:r>
          </a:p>
        </p:txBody>
      </p:sp>
      <p:sp>
        <p:nvSpPr>
          <p:cNvPr id="28" name="07">
            <a:extLst xmlns:a="http://schemas.openxmlformats.org/drawingml/2006/main">
              <a:ext uri="{FF2B5EF4-FFF2-40B4-BE49-F238E27FC236}">
                <a16:creationId xmlns:a16="http://schemas.microsoft.com/office/drawing/2014/main" id="{1EFD1D08-53F2-4B66-9314-5999262B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6274915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E454BD-6C27-497C-B2D5-57B1A378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8291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F"/>
          </a:solidFill>
          <a:ln xmlns:a="http://schemas.openxmlformats.org/drawingml/2006/main" w="0">
            <a:noFill/>
          </a:ln>
        </p:spPr>
      </p:sp>
      <p:sp>
        <p:nvSpPr>
          <p:cNvPr id="2" name="СОТРУДНИЧЕСТВО / 01">
            <a:extLst xmlns:a="http://schemas.openxmlformats.org/drawingml/2006/main">
              <a:ext uri="{FF2B5EF4-FFF2-40B4-BE49-F238E27FC236}">
                <a16:creationId xmlns:a16="http://schemas.microsoft.com/office/drawing/2014/main" id="{258246F7-825C-439B-B00D-6D142B31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3743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СОТРУДНИЧЕСТВО / 01</a:t>
            </a:r>
          </a:p>
        </p:txBody>
      </p:sp>
      <p:sp>
        <p:nvSpPr>
          <p:cNvPr id="3" name="Бренд внутри&#10;истории">
            <a:extLst xmlns:a="http://schemas.openxmlformats.org/drawingml/2006/main">
              <a:ext uri="{FF2B5EF4-FFF2-40B4-BE49-F238E27FC236}">
                <a16:creationId xmlns:a16="http://schemas.microsoft.com/office/drawing/2014/main" id="{643B0DBE-9FFE-49D9-B275-E1AB2CD9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38671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Бренд внутри</a:t>
            </a:r>
          </a:p>
          <a:p xmlns:a="http://schemas.openxmlformats.org/drawingml/2006/main">
            <a: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истории</a:t>
            </a:r>
          </a:p>
        </p:txBody>
      </p:sp>
      <p:sp>
        <p:nvSpPr>
          <p:cNvPr id="4" name="Упоминания бренда в сюжете, появление прод">
            <a:extLst xmlns:a="http://schemas.openxmlformats.org/drawingml/2006/main">
              <a:ext uri="{FF2B5EF4-FFF2-40B4-BE49-F238E27FC236}">
                <a16:creationId xmlns:a16="http://schemas.microsoft.com/office/drawing/2014/main" id="{591BCB33-D057-43F9-B3C3-7300DE56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3667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Упоминания бренда в сюжете, появление продукта в кадре и совместные спецвыпуски. Находим естественную роль бренда в приключении.</a:t>
            </a:r>
          </a:p>
        </p:txBody>
      </p:sp>
      <p:sp>
        <p:nvSpPr>
          <p:cNvPr id="5" name="Сроки">
            <a:extLst xmlns:a="http://schemas.openxmlformats.org/drawingml/2006/main">
              <a:ext uri="{FF2B5EF4-FFF2-40B4-BE49-F238E27FC236}">
                <a16:creationId xmlns:a16="http://schemas.microsoft.com/office/drawing/2014/main" id="{B75788B5-6701-4BCE-9B91-3EAA81DA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667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Сроки</a:t>
            </a:r>
          </a:p>
        </p:txBody>
      </p:sp>
      <p:sp>
        <p:nvSpPr>
          <p:cNvPr id="6" name="От одной недели">
            <a:extLst xmlns:a="http://schemas.openxmlformats.org/drawingml/2006/main">
              <a:ext uri="{FF2B5EF4-FFF2-40B4-BE49-F238E27FC236}">
                <a16:creationId xmlns:a16="http://schemas.microsoft.com/office/drawing/2014/main" id="{F8B2B9BB-401F-419F-9A8E-B910FFFB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36671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От одной недели</a:t>
            </a:r>
          </a:p>
        </p:txBody>
      </p:sp>
      <p:sp>
        <p:nvSpPr>
          <p:cNvPr id="7" name="Стоимость рассчитываем под задачу">
            <a:extLst xmlns:a="http://schemas.openxmlformats.org/drawingml/2006/main">
              <a:ext uri="{FF2B5EF4-FFF2-40B4-BE49-F238E27FC236}">
                <a16:creationId xmlns:a16="http://schemas.microsoft.com/office/drawing/2014/main" id="{22E35A15-83C8-495A-B479-7AD406AC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366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Стоимость рассчитываем под задачу</a:t>
            </a:r>
          </a:p>
        </p:txBody>
      </p:sp>
      <p:sp>
        <p:nvSpPr>
          <p:cNvPr id="8" name="Берём на себя">
            <a:extLst xmlns:a="http://schemas.openxmlformats.org/drawingml/2006/main">
              <a:ext uri="{FF2B5EF4-FFF2-40B4-BE49-F238E27FC236}">
                <a16:creationId xmlns:a16="http://schemas.microsoft.com/office/drawing/2014/main" id="{3FDBC940-F0E6-4EF0-8822-56C4C66C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628650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Берём на себя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C3309F0D-3DD2-4888-843A-8E6C0834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5906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01</a:t>
            </a:r>
          </a:p>
        </p:txBody>
      </p:sp>
      <p:sp>
        <p:nvSpPr>
          <p:cNvPr id="10" name="Разработка идеи и сценария">
            <a:extLst xmlns:a="http://schemas.openxmlformats.org/drawingml/2006/main">
              <a:ext uri="{FF2B5EF4-FFF2-40B4-BE49-F238E27FC236}">
                <a16:creationId xmlns:a16="http://schemas.microsoft.com/office/drawing/2014/main" id="{E8045A27-F9E6-42B5-BD0F-39DB5DBC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5906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Разработка идеи и сценария</a:t>
            </a:r>
          </a:p>
        </p:txBody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2E80EB12-7FBE-4951-9C37-BD323FF7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7172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02</a:t>
            </a:r>
          </a:p>
        </p:txBody>
      </p:sp>
      <p:sp>
        <p:nvSpPr>
          <p:cNvPr id="12" name="Производство анимационного ролика">
            <a:extLst xmlns:a="http://schemas.openxmlformats.org/drawingml/2006/main">
              <a:ext uri="{FF2B5EF4-FFF2-40B4-BE49-F238E27FC236}">
                <a16:creationId xmlns:a16="http://schemas.microsoft.com/office/drawing/2014/main" id="{ED628759-C10B-4705-9DC7-91A386DD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37172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Производство анимационного ролика</a:t>
            </a:r>
          </a:p>
        </p:txBody>
      </p:sp>
      <p:sp>
        <p:nvSpPr>
          <p:cNvPr id="13" name="03">
            <a:extLst xmlns:a="http://schemas.openxmlformats.org/drawingml/2006/main">
              <a:ext uri="{FF2B5EF4-FFF2-40B4-BE49-F238E27FC236}">
                <a16:creationId xmlns:a16="http://schemas.microsoft.com/office/drawing/2014/main" id="{8D05DC1C-DBCA-4EB8-AE0F-ED0B1E21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1527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03</a:t>
            </a:r>
          </a:p>
        </p:txBody>
      </p:sp>
      <p:sp>
        <p:nvSpPr>
          <p:cNvPr id="14" name="Научная и медицинская проверка">
            <a:extLst xmlns:a="http://schemas.openxmlformats.org/drawingml/2006/main">
              <a:ext uri="{FF2B5EF4-FFF2-40B4-BE49-F238E27FC236}">
                <a16:creationId xmlns:a16="http://schemas.microsoft.com/office/drawing/2014/main" id="{A3ABE422-45B7-4B93-AEE4-1258E434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527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Научная и медицинская проверка</a:t>
            </a:r>
          </a:p>
        </p:txBody>
      </p:sp>
      <p:sp>
        <p:nvSpPr>
          <p:cNvPr id="15" name="04">
            <a:extLst xmlns:a="http://schemas.openxmlformats.org/drawingml/2006/main">
              <a:ext uri="{FF2B5EF4-FFF2-40B4-BE49-F238E27FC236}">
                <a16:creationId xmlns:a16="http://schemas.microsoft.com/office/drawing/2014/main" id="{008D79C9-C61D-4BA4-BCE0-5DDA798B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93382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04</a:t>
            </a:r>
          </a:p>
        </p:txBody>
      </p:sp>
      <p:sp>
        <p:nvSpPr>
          <p:cNvPr id="16" name="Адаптация под нужные площадки">
            <a:extLst xmlns:a="http://schemas.openxmlformats.org/drawingml/2006/main">
              <a:ext uri="{FF2B5EF4-FFF2-40B4-BE49-F238E27FC236}">
                <a16:creationId xmlns:a16="http://schemas.microsoft.com/office/drawing/2014/main" id="{4F49B570-8232-410C-8978-ED52ED7F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93382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Адаптация под нужные площадки</a:t>
            </a:r>
          </a:p>
        </p:txBody>
      </p:sp>
      <p:sp>
        <p:nvSpPr>
          <p:cNvPr id="17" name="05">
            <a:extLst xmlns:a="http://schemas.openxmlformats.org/drawingml/2006/main">
              <a:ext uri="{FF2B5EF4-FFF2-40B4-BE49-F238E27FC236}">
                <a16:creationId xmlns:a16="http://schemas.microsoft.com/office/drawing/2014/main" id="{A41B95FA-69D5-4894-9F9E-1FB7C2A9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7148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05</a:t>
            </a:r>
          </a:p>
        </p:txBody>
      </p:sp>
      <p:sp>
        <p:nvSpPr>
          <p:cNvPr id="18" name="Публикация и итоговая статистика">
            <a:extLst xmlns:a="http://schemas.openxmlformats.org/drawingml/2006/main">
              <a:ext uri="{FF2B5EF4-FFF2-40B4-BE49-F238E27FC236}">
                <a16:creationId xmlns:a16="http://schemas.microsoft.com/office/drawing/2014/main" id="{4A661B97-546C-4777-A2F5-9242EF13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7148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Публикация и итоговая статистика</a:t>
            </a:r>
          </a:p>
        </p:txBody>
      </p:sp>
      <p:sp>
        <p:nvSpPr>
          <p:cNvPr id="19" name="Объём работ, бюджет и показатели согласуем">
            <a:extLst xmlns:a="http://schemas.openxmlformats.org/drawingml/2006/main">
              <a:ext uri="{FF2B5EF4-FFF2-40B4-BE49-F238E27FC236}">
                <a16:creationId xmlns:a16="http://schemas.microsoft.com/office/drawing/2014/main" id="{1D754C1A-B7AF-4919-9B12-6D1AE9A3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953125"/>
            <a:ext cx="607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Объём работ, бюджет и показатели согласуем до запуска</a:t>
            </a:r>
          </a:p>
        </p:txBody>
      </p:sp>
      <p:sp>
        <p:nvSpPr>
          <p:cNvPr id="20" name="08">
            <a:extLst xmlns:a="http://schemas.openxmlformats.org/drawingml/2006/main">
              <a:ext uri="{FF2B5EF4-FFF2-40B4-BE49-F238E27FC236}">
                <a16:creationId xmlns:a16="http://schemas.microsoft.com/office/drawing/2014/main" id="{61E02AE5-A103-41AB-8E0C-822B3B42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708511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05771A-D587-4ECF-BE9F-AECFC14F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8291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EE"/>
          </a:solidFill>
          <a:ln xmlns:a="http://schemas.openxmlformats.org/drawingml/2006/main" w="0">
            <a:noFill/>
          </a:ln>
        </p:spPr>
      </p:sp>
      <p:sp>
        <p:nvSpPr>
          <p:cNvPr id="2" name="СОТРУДНИЧЕСТВО / 02">
            <a:extLst xmlns:a="http://schemas.openxmlformats.org/drawingml/2006/main">
              <a:ext uri="{FF2B5EF4-FFF2-40B4-BE49-F238E27FC236}">
                <a16:creationId xmlns:a16="http://schemas.microsoft.com/office/drawing/2014/main" id="{2BD3FB79-A8BE-4FC0-BB1A-D520DA04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3743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СОТРУДНИЧЕСТВО / 02</a:t>
            </a:r>
          </a:p>
        </p:txBody>
      </p:sp>
      <p:sp>
        <p:nvSpPr>
          <p:cNvPr id="3" name="Образовательные&#10;проекты">
            <a:extLst xmlns:a="http://schemas.openxmlformats.org/drawingml/2006/main">
              <a:ext uri="{FF2B5EF4-FFF2-40B4-BE49-F238E27FC236}">
                <a16:creationId xmlns:a16="http://schemas.microsoft.com/office/drawing/2014/main" id="{67A46481-810B-46EE-B26B-9DC99543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38671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Образовательные</a:t>
            </a:r>
          </a:p>
          <a:p xmlns:a="http://schemas.openxmlformats.org/drawingml/2006/main">
            <a:pPr>
              <a:def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8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проекты</a:t>
            </a:r>
          </a:p>
        </p:txBody>
      </p:sp>
      <p:sp>
        <p:nvSpPr>
          <p:cNvPr id="4" name="Совместные уроки, мастер-классы и ролики д">
            <a:extLst xmlns:a="http://schemas.openxmlformats.org/drawingml/2006/main">
              <a:ext uri="{FF2B5EF4-FFF2-40B4-BE49-F238E27FC236}">
                <a16:creationId xmlns:a16="http://schemas.microsoft.com/office/drawing/2014/main" id="{509B81B9-D5CE-44F8-B881-B60ED185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3667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Совместные уроки, мастер-классы и ролики для клиник, школ и городских фестивалей. Создаём проект под аудиторию партнёра.</a:t>
            </a:r>
          </a:p>
        </p:txBody>
      </p:sp>
      <p:sp>
        <p:nvSpPr>
          <p:cNvPr id="5" name="Сроки">
            <a:extLst xmlns:a="http://schemas.openxmlformats.org/drawingml/2006/main">
              <a:ext uri="{FF2B5EF4-FFF2-40B4-BE49-F238E27FC236}">
                <a16:creationId xmlns:a16="http://schemas.microsoft.com/office/drawing/2014/main" id="{B7AD9130-5704-451B-9F91-A837E626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667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Сроки</a:t>
            </a:r>
          </a:p>
        </p:txBody>
      </p:sp>
      <p:sp>
        <p:nvSpPr>
          <p:cNvPr id="6" name="1,5 месяца&#10;после согласования">
            <a:extLst xmlns:a="http://schemas.openxmlformats.org/drawingml/2006/main">
              <a:ext uri="{FF2B5EF4-FFF2-40B4-BE49-F238E27FC236}">
                <a16:creationId xmlns:a16="http://schemas.microsoft.com/office/drawing/2014/main" id="{BE1F3203-658B-49C8-AF5E-A681976D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36671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1,5 месяца</a:t>
            </a:r>
          </a:p>
          <a:p xmlns:a="http://schemas.openxmlformats.org/drawingml/2006/main">
            <a: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после согласования</a:t>
            </a:r>
          </a:p>
        </p:txBody>
      </p:sp>
      <p:sp>
        <p:nvSpPr>
          <p:cNvPr id="7" name="Стоимость рассчитываем под задачу">
            <a:extLst xmlns:a="http://schemas.openxmlformats.org/drawingml/2006/main">
              <a:ext uri="{FF2B5EF4-FFF2-40B4-BE49-F238E27FC236}">
                <a16:creationId xmlns:a16="http://schemas.microsoft.com/office/drawing/2014/main" id="{3D7A0C34-DB5D-4FA0-BC6E-5E46A88F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366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Стоимость рассчитываем под задачу</a:t>
            </a:r>
          </a:p>
        </p:txBody>
      </p:sp>
      <p:sp>
        <p:nvSpPr>
          <p:cNvPr id="8" name="Берём на себя">
            <a:extLst xmlns:a="http://schemas.openxmlformats.org/drawingml/2006/main">
              <a:ext uri="{FF2B5EF4-FFF2-40B4-BE49-F238E27FC236}">
                <a16:creationId xmlns:a16="http://schemas.microsoft.com/office/drawing/2014/main" id="{839EC5B6-B67E-440D-8FBF-55B433CE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628650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Берём на себя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952FDCE6-377A-4AF2-9FEE-7AF0A1F2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5906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01</a:t>
            </a:r>
          </a:p>
        </p:txBody>
      </p:sp>
      <p:sp>
        <p:nvSpPr>
          <p:cNvPr id="10" name="Концепция, тема и механика проекта">
            <a:extLst xmlns:a="http://schemas.openxmlformats.org/drawingml/2006/main">
              <a:ext uri="{FF2B5EF4-FFF2-40B4-BE49-F238E27FC236}">
                <a16:creationId xmlns:a16="http://schemas.microsoft.com/office/drawing/2014/main" id="{E57EADC3-FC90-450D-9A01-66A3AE2F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5906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Концепция, тема и механика проекта</a:t>
            </a:r>
          </a:p>
        </p:txBody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6C05946C-CE12-4259-B0A4-CA525576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7172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02</a:t>
            </a:r>
          </a:p>
        </p:txBody>
      </p:sp>
      <p:sp>
        <p:nvSpPr>
          <p:cNvPr id="12" name="Сценарии, видео, задания и материалы">
            <a:extLst xmlns:a="http://schemas.openxmlformats.org/drawingml/2006/main">
              <a:ext uri="{FF2B5EF4-FFF2-40B4-BE49-F238E27FC236}">
                <a16:creationId xmlns:a16="http://schemas.microsoft.com/office/drawing/2014/main" id="{5915CEC4-79EF-464D-BBBA-E3E29BB8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37172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Сценарии, видео, задания и материалы</a:t>
            </a:r>
          </a:p>
        </p:txBody>
      </p:sp>
      <p:sp>
        <p:nvSpPr>
          <p:cNvPr id="13" name="03">
            <a:extLst xmlns:a="http://schemas.openxmlformats.org/drawingml/2006/main">
              <a:ext uri="{FF2B5EF4-FFF2-40B4-BE49-F238E27FC236}">
                <a16:creationId xmlns:a16="http://schemas.microsoft.com/office/drawing/2014/main" id="{B5590FDD-64BC-4053-B84D-4B0A7D8D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1527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03</a:t>
            </a:r>
          </a:p>
        </p:txBody>
      </p:sp>
      <p:sp>
        <p:nvSpPr>
          <p:cNvPr id="14" name="Проверка научной и медицинской корректност">
            <a:extLst xmlns:a="http://schemas.openxmlformats.org/drawingml/2006/main">
              <a:ext uri="{FF2B5EF4-FFF2-40B4-BE49-F238E27FC236}">
                <a16:creationId xmlns:a16="http://schemas.microsoft.com/office/drawing/2014/main" id="{FEC56E0F-2855-42B7-AAE2-73FEF2CF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527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Проверка научной и медицинской корректности</a:t>
            </a:r>
          </a:p>
        </p:txBody>
      </p:sp>
      <p:sp>
        <p:nvSpPr>
          <p:cNvPr id="15" name="04">
            <a:extLst xmlns:a="http://schemas.openxmlformats.org/drawingml/2006/main">
              <a:ext uri="{FF2B5EF4-FFF2-40B4-BE49-F238E27FC236}">
                <a16:creationId xmlns:a16="http://schemas.microsoft.com/office/drawing/2014/main" id="{8E117FD7-03A8-40EF-9F4A-5038D9E2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93382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04</a:t>
            </a:r>
          </a:p>
        </p:txBody>
      </p:sp>
      <p:sp>
        <p:nvSpPr>
          <p:cNvPr id="16" name="Поддержка запуска на площадке">
            <a:extLst xmlns:a="http://schemas.openxmlformats.org/drawingml/2006/main">
              <a:ext uri="{FF2B5EF4-FFF2-40B4-BE49-F238E27FC236}">
                <a16:creationId xmlns:a16="http://schemas.microsoft.com/office/drawing/2014/main" id="{8FB31E1B-273F-4D3C-BCD1-89EC6AAAA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93382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Поддержка запуска на площадке</a:t>
            </a:r>
          </a:p>
        </p:txBody>
      </p:sp>
      <p:sp>
        <p:nvSpPr>
          <p:cNvPr id="17" name="05">
            <a:extLst xmlns:a="http://schemas.openxmlformats.org/drawingml/2006/main">
              <a:ext uri="{FF2B5EF4-FFF2-40B4-BE49-F238E27FC236}">
                <a16:creationId xmlns:a16="http://schemas.microsoft.com/office/drawing/2014/main" id="{C47CB1B2-DF33-404E-BCC8-57DFFCE9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7148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05</a:t>
            </a:r>
          </a:p>
        </p:txBody>
      </p:sp>
      <p:sp>
        <p:nvSpPr>
          <p:cNvPr id="18" name="Фото, видео, обратная связь и итоговый отч">
            <a:extLst xmlns:a="http://schemas.openxmlformats.org/drawingml/2006/main">
              <a:ext uri="{FF2B5EF4-FFF2-40B4-BE49-F238E27FC236}">
                <a16:creationId xmlns:a16="http://schemas.microsoft.com/office/drawing/2014/main" id="{BD861A0E-CB42-4242-86DF-F51A2192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7148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Фото, видео, обратная связь и итоговый отчёт</a:t>
            </a:r>
          </a:p>
        </p:txBody>
      </p:sp>
      <p:sp>
        <p:nvSpPr>
          <p:cNvPr id="19" name="Объём работ, бюджет и показатели согласуем">
            <a:extLst xmlns:a="http://schemas.openxmlformats.org/drawingml/2006/main">
              <a:ext uri="{FF2B5EF4-FFF2-40B4-BE49-F238E27FC236}">
                <a16:creationId xmlns:a16="http://schemas.microsoft.com/office/drawing/2014/main" id="{A58695A9-BAAD-458D-AF8A-3A39E3E6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953125"/>
            <a:ext cx="607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Объём работ, бюджет и показатели согласуем до запуска</a:t>
            </a:r>
          </a:p>
        </p:txBody>
      </p:sp>
      <p:sp>
        <p:nvSpPr>
          <p:cNvPr id="20" name="09">
            <a:extLst xmlns:a="http://schemas.openxmlformats.org/drawingml/2006/main">
              <a:ext uri="{FF2B5EF4-FFF2-40B4-BE49-F238E27FC236}">
                <a16:creationId xmlns:a16="http://schemas.microsoft.com/office/drawing/2014/main" id="{8C8549E6-F083-4879-B48E-75EE616F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314479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40FE1C-AD59-4E39-9A96-5DE01A6F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8291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B0"/>
          </a:solidFill>
          <a:ln xmlns:a="http://schemas.openxmlformats.org/drawingml/2006/main" w="0">
            <a:noFill/>
          </a:ln>
        </p:spPr>
      </p:sp>
      <p:sp>
        <p:nvSpPr>
          <p:cNvPr id="2" name="СОТРУДНИЧЕСТВО / 03">
            <a:extLst xmlns:a="http://schemas.openxmlformats.org/drawingml/2006/main">
              <a:ext uri="{FF2B5EF4-FFF2-40B4-BE49-F238E27FC236}">
                <a16:creationId xmlns:a16="http://schemas.microsoft.com/office/drawing/2014/main" id="{E0DEA020-0C83-49C8-9829-4B75BA83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3743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СОТРУДНИЧЕСТВО / 03</a:t>
            </a:r>
          </a:p>
        </p:txBody>
      </p:sp>
      <p:sp>
        <p:nvSpPr>
          <p:cNvPr id="3" name="Лицензирование&#10;и товары&#10;с героями">
            <a:extLst xmlns:a="http://schemas.openxmlformats.org/drawingml/2006/main">
              <a:ext uri="{FF2B5EF4-FFF2-40B4-BE49-F238E27FC236}">
                <a16:creationId xmlns:a16="http://schemas.microsoft.com/office/drawing/2014/main" id="{A9A86039-E624-42F1-BEF2-7FCEBFA6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38671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Лицензирование</a:t>
            </a:r>
          </a:p>
          <a:p xmlns:a="http://schemas.openxmlformats.org/drawingml/2006/main">
            <a: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и товары</a:t>
            </a:r>
          </a:p>
          <a:p xmlns:a="http://schemas.openxmlformats.org/drawingml/2006/main">
            <a: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 героями</a:t>
            </a:r>
          </a:p>
        </p:txBody>
      </p:sp>
      <p:sp>
        <p:nvSpPr>
          <p:cNvPr id="4" name="Персонажи и мир НАНОБОТОВ становятся часть">
            <a:extLst xmlns:a="http://schemas.openxmlformats.org/drawingml/2006/main">
              <a:ext uri="{FF2B5EF4-FFF2-40B4-BE49-F238E27FC236}">
                <a16:creationId xmlns:a16="http://schemas.microsoft.com/office/drawing/2014/main" id="{0F02B6E9-380B-4BD1-B90E-A7767E17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3667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Персонажи и мир НАНОБОТОВ становятся частью вашего продукта, упаковки или совместной коллекции.</a:t>
            </a:r>
          </a:p>
        </p:txBody>
      </p:sp>
      <p:sp>
        <p:nvSpPr>
          <p:cNvPr id="5" name="Сроки">
            <a:extLst xmlns:a="http://schemas.openxmlformats.org/drawingml/2006/main">
              <a:ext uri="{FF2B5EF4-FFF2-40B4-BE49-F238E27FC236}">
                <a16:creationId xmlns:a16="http://schemas.microsoft.com/office/drawing/2014/main" id="{7A8611B8-EF17-4EE8-BF98-C5DC489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667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Сроки</a:t>
            </a:r>
          </a:p>
        </p:txBody>
      </p:sp>
      <p:sp>
        <p:nvSpPr>
          <p:cNvPr id="6" name="Зависит от формата&#10;и производства">
            <a:extLst xmlns:a="http://schemas.openxmlformats.org/drawingml/2006/main">
              <a:ext uri="{FF2B5EF4-FFF2-40B4-BE49-F238E27FC236}">
                <a16:creationId xmlns:a16="http://schemas.microsoft.com/office/drawing/2014/main" id="{3CCEC7CA-0226-4D9B-98CE-732CEA65B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36671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Зависит от формата</a:t>
            </a:r>
          </a:p>
          <a:p xmlns:a="http://schemas.openxmlformats.org/drawingml/2006/main">
            <a: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и производства</a:t>
            </a:r>
          </a:p>
        </p:txBody>
      </p:sp>
      <p:sp>
        <p:nvSpPr>
          <p:cNvPr id="7" name="Стоимость зависит от категории, тиража и с">
            <a:extLst xmlns:a="http://schemas.openxmlformats.org/drawingml/2006/main">
              <a:ext uri="{FF2B5EF4-FFF2-40B4-BE49-F238E27FC236}">
                <a16:creationId xmlns:a16="http://schemas.microsoft.com/office/drawing/2014/main" id="{7E2F7394-8826-436C-A314-EF31807E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366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Стоимость зависит от категории, тиража и срока лицензии</a:t>
            </a:r>
          </a:p>
        </p:txBody>
      </p:sp>
      <p:sp>
        <p:nvSpPr>
          <p:cNvPr id="8" name="Варианты сотрудничества">
            <a:extLst xmlns:a="http://schemas.openxmlformats.org/drawingml/2006/main">
              <a:ext uri="{FF2B5EF4-FFF2-40B4-BE49-F238E27FC236}">
                <a16:creationId xmlns:a16="http://schemas.microsoft.com/office/drawing/2014/main" id="{DDFC6084-D044-4012-92BC-250A02D9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628650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Варианты сотрудничества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956EAC51-0A27-44B3-80EF-CB918E1F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5906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01</a:t>
            </a:r>
          </a:p>
        </p:txBody>
      </p:sp>
      <p:sp>
        <p:nvSpPr>
          <p:cNvPr id="10" name="Игрушки, книги и развивающие продукты">
            <a:extLst xmlns:a="http://schemas.openxmlformats.org/drawingml/2006/main">
              <a:ext uri="{FF2B5EF4-FFF2-40B4-BE49-F238E27FC236}">
                <a16:creationId xmlns:a16="http://schemas.microsoft.com/office/drawing/2014/main" id="{4C6A3686-593C-4127-9470-76698172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5906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Игрушки, книги и развивающие продукты</a:t>
            </a:r>
          </a:p>
        </p:txBody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2EEE1A54-DFDE-4642-80E1-BE193CF6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7172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02</a:t>
            </a:r>
          </a:p>
        </p:txBody>
      </p:sp>
      <p:sp>
        <p:nvSpPr>
          <p:cNvPr id="12" name="Упаковка и рекламные материалы">
            <a:extLst xmlns:a="http://schemas.openxmlformats.org/drawingml/2006/main">
              <a:ext uri="{FF2B5EF4-FFF2-40B4-BE49-F238E27FC236}">
                <a16:creationId xmlns:a16="http://schemas.microsoft.com/office/drawing/2014/main" id="{CD7C117B-1C3A-4A57-86D5-BF21B8AD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37172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Упаковка и рекламные материалы</a:t>
            </a:r>
          </a:p>
        </p:txBody>
      </p:sp>
      <p:sp>
        <p:nvSpPr>
          <p:cNvPr id="13" name="03">
            <a:extLst xmlns:a="http://schemas.openxmlformats.org/drawingml/2006/main">
              <a:ext uri="{FF2B5EF4-FFF2-40B4-BE49-F238E27FC236}">
                <a16:creationId xmlns:a16="http://schemas.microsoft.com/office/drawing/2014/main" id="{5A701C84-E4A3-473E-98FC-FF465E6A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1527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03</a:t>
            </a:r>
          </a:p>
        </p:txBody>
      </p:sp>
      <p:sp>
        <p:nvSpPr>
          <p:cNvPr id="14" name="Персонаж как представитель продукта или ка">
            <a:extLst xmlns:a="http://schemas.openxmlformats.org/drawingml/2006/main">
              <a:ext uri="{FF2B5EF4-FFF2-40B4-BE49-F238E27FC236}">
                <a16:creationId xmlns:a16="http://schemas.microsoft.com/office/drawing/2014/main" id="{2E328286-86E9-4973-94F6-B8170AFA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527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Персонаж как представитель продукта или кампании</a:t>
            </a:r>
          </a:p>
        </p:txBody>
      </p:sp>
      <p:sp>
        <p:nvSpPr>
          <p:cNvPr id="15" name="04">
            <a:extLst xmlns:a="http://schemas.openxmlformats.org/drawingml/2006/main">
              <a:ext uri="{FF2B5EF4-FFF2-40B4-BE49-F238E27FC236}">
                <a16:creationId xmlns:a16="http://schemas.microsoft.com/office/drawing/2014/main" id="{31BD4BB1-466E-4F5A-AC42-9596B590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93382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04</a:t>
            </a:r>
          </a:p>
        </p:txBody>
      </p:sp>
      <p:sp>
        <p:nvSpPr>
          <p:cNvPr id="16" name="Совместная коллекция бренда и НАНОБОТОВ">
            <a:extLst xmlns:a="http://schemas.openxmlformats.org/drawingml/2006/main">
              <a:ext uri="{FF2B5EF4-FFF2-40B4-BE49-F238E27FC236}">
                <a16:creationId xmlns:a16="http://schemas.microsoft.com/office/drawing/2014/main" id="{93828844-6A5B-490F-ACB2-DE4E1CB4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93382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Совместная коллекция бренда и НАНОБОТОВ</a:t>
            </a:r>
          </a:p>
        </p:txBody>
      </p:sp>
      <p:sp>
        <p:nvSpPr>
          <p:cNvPr id="17" name="Объём работ, бюджет и показатели согласуем">
            <a:extLst xmlns:a="http://schemas.openxmlformats.org/drawingml/2006/main">
              <a:ext uri="{FF2B5EF4-FFF2-40B4-BE49-F238E27FC236}">
                <a16:creationId xmlns:a16="http://schemas.microsoft.com/office/drawing/2014/main" id="{E1FA9150-566F-4CAF-868F-A31F541A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953125"/>
            <a:ext cx="607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Объём работ, бюджет и показатели согласуем до запуска</a:t>
            </a:r>
          </a:p>
        </p:txBody>
      </p:sp>
      <p:sp>
        <p:nvSpPr>
          <p:cNvPr id="18" name="10">
            <a:extLst xmlns:a="http://schemas.openxmlformats.org/drawingml/2006/main">
              <a:ext uri="{FF2B5EF4-FFF2-40B4-BE49-F238E27FC236}">
                <a16:creationId xmlns:a16="http://schemas.microsoft.com/office/drawing/2014/main" id="{01D05100-E28B-4E68-BCFC-02342259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422223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71F328-8CBC-4D9D-B15A-73538E30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8291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9FF"/>
          </a:solidFill>
          <a:ln xmlns:a="http://schemas.openxmlformats.org/drawingml/2006/main" w="0">
            <a:noFill/>
          </a:ln>
        </p:spPr>
      </p:sp>
      <p:sp>
        <p:nvSpPr>
          <p:cNvPr id="2" name="СОТРУДНИЧЕСТВО / 04">
            <a:extLst xmlns:a="http://schemas.openxmlformats.org/drawingml/2006/main">
              <a:ext uri="{FF2B5EF4-FFF2-40B4-BE49-F238E27FC236}">
                <a16:creationId xmlns:a16="http://schemas.microsoft.com/office/drawing/2014/main" id="{16A30583-DCC3-40FA-828F-B3D905DA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3743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2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СОТРУДНИЧЕСТВО / 04</a:t>
            </a:r>
          </a:p>
        </p:txBody>
      </p:sp>
      <p:sp>
        <p:nvSpPr>
          <p:cNvPr id="3" name="Проекты&#10;для СМИ">
            <a:extLst xmlns:a="http://schemas.openxmlformats.org/drawingml/2006/main">
              <a:ext uri="{FF2B5EF4-FFF2-40B4-BE49-F238E27FC236}">
                <a16:creationId xmlns:a16="http://schemas.microsoft.com/office/drawing/2014/main" id="{BB651780-DE0D-4BCA-9E5E-575666C0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38671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Проекты</a:t>
            </a:r>
          </a:p>
          <a:p xmlns:a="http://schemas.openxmlformats.org/drawingml/2006/main">
            <a:pPr>
              <a:def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15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для СМИ</a:t>
            </a:r>
          </a:p>
        </p:txBody>
      </p:sp>
      <p:sp>
        <p:nvSpPr>
          <p:cNvPr id="4" name="Знакомим читателей с героями, создателями ">
            <a:extLst xmlns:a="http://schemas.openxmlformats.org/drawingml/2006/main">
              <a:ext uri="{FF2B5EF4-FFF2-40B4-BE49-F238E27FC236}">
                <a16:creationId xmlns:a16="http://schemas.microsoft.com/office/drawing/2014/main" id="{2072B064-9C81-4E18-B624-2C0884EA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36671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Знакомим читателей с героями, создателями и научной основой проекта. Находим интересную тему под редакционную задачу.</a:t>
            </a:r>
          </a:p>
        </p:txBody>
      </p:sp>
      <p:sp>
        <p:nvSpPr>
          <p:cNvPr id="5" name="Сроки">
            <a:extLst xmlns:a="http://schemas.openxmlformats.org/drawingml/2006/main">
              <a:ext uri="{FF2B5EF4-FFF2-40B4-BE49-F238E27FC236}">
                <a16:creationId xmlns:a16="http://schemas.microsoft.com/office/drawing/2014/main" id="{93B337A4-AA86-4779-B94E-7CB81DC7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667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Сроки</a:t>
            </a:r>
          </a:p>
        </p:txBody>
      </p:sp>
      <p:sp>
        <p:nvSpPr>
          <p:cNvPr id="6" name="Согласуем с редакцией">
            <a:extLst xmlns:a="http://schemas.openxmlformats.org/drawingml/2006/main">
              <a:ext uri="{FF2B5EF4-FFF2-40B4-BE49-F238E27FC236}">
                <a16:creationId xmlns:a16="http://schemas.microsoft.com/office/drawing/2014/main" id="{45D74A75-B104-40D8-A045-FDE4D785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36671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Согласуем с редакцией</a:t>
            </a:r>
          </a:p>
        </p:txBody>
      </p:sp>
      <p:sp>
        <p:nvSpPr>
          <p:cNvPr id="7" name="Условия обсуждаем индивидуально">
            <a:extLst xmlns:a="http://schemas.openxmlformats.org/drawingml/2006/main">
              <a:ext uri="{FF2B5EF4-FFF2-40B4-BE49-F238E27FC236}">
                <a16:creationId xmlns:a16="http://schemas.microsoft.com/office/drawing/2014/main" id="{AD858B4F-DF6A-4B6F-B695-32B5A65B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3667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35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Условия обсуждаем индивидуально</a:t>
            </a:r>
          </a:p>
        </p:txBody>
      </p:sp>
      <p:sp>
        <p:nvSpPr>
          <p:cNvPr id="8" name="Что можем подготовить">
            <a:extLst xmlns:a="http://schemas.openxmlformats.org/drawingml/2006/main">
              <a:ext uri="{FF2B5EF4-FFF2-40B4-BE49-F238E27FC236}">
                <a16:creationId xmlns:a16="http://schemas.microsoft.com/office/drawing/2014/main" id="{69E8B823-9A0C-4A96-8AC8-2D6E42FD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628650"/>
            <a:ext cx="6191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4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Что можем подготовить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E523F3DF-D6D5-4DF4-94EE-8EA04D7D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5906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01</a:t>
            </a:r>
          </a:p>
        </p:txBody>
      </p:sp>
      <p:sp>
        <p:nvSpPr>
          <p:cNvPr id="10" name="Интервью с создателями проекта">
            <a:extLst xmlns:a="http://schemas.openxmlformats.org/drawingml/2006/main">
              <a:ext uri="{FF2B5EF4-FFF2-40B4-BE49-F238E27FC236}">
                <a16:creationId xmlns:a16="http://schemas.microsoft.com/office/drawing/2014/main" id="{42EE2E5B-2751-4A52-8449-63073701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5906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Интервью с создателями проекта</a:t>
            </a:r>
          </a:p>
        </p:txBody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1616AD6D-6945-422E-BFEE-F43C58C0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7172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02</a:t>
            </a:r>
          </a:p>
        </p:txBody>
      </p:sp>
      <p:sp>
        <p:nvSpPr>
          <p:cNvPr id="12" name="Экспертные комментарии">
            <a:extLst xmlns:a="http://schemas.openxmlformats.org/drawingml/2006/main">
              <a:ext uri="{FF2B5EF4-FFF2-40B4-BE49-F238E27FC236}">
                <a16:creationId xmlns:a16="http://schemas.microsoft.com/office/drawing/2014/main" id="{FEE6CCB8-A296-43FE-A2BD-9ABC799F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37172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Экспертные комментарии</a:t>
            </a:r>
          </a:p>
        </p:txBody>
      </p:sp>
      <p:sp>
        <p:nvSpPr>
          <p:cNvPr id="13" name="03">
            <a:extLst xmlns:a="http://schemas.openxmlformats.org/drawingml/2006/main">
              <a:ext uri="{FF2B5EF4-FFF2-40B4-BE49-F238E27FC236}">
                <a16:creationId xmlns:a16="http://schemas.microsoft.com/office/drawing/2014/main" id="{2F0FA1CB-7FE4-4931-8E4C-4EE1A48B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15277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03</a:t>
            </a:r>
          </a:p>
        </p:txBody>
      </p:sp>
      <p:sp>
        <p:nvSpPr>
          <p:cNvPr id="14" name="Колонки и совместные спецпроекты">
            <a:extLst xmlns:a="http://schemas.openxmlformats.org/drawingml/2006/main">
              <a:ext uri="{FF2B5EF4-FFF2-40B4-BE49-F238E27FC236}">
                <a16:creationId xmlns:a16="http://schemas.microsoft.com/office/drawing/2014/main" id="{B0F04851-88E7-4FF4-B6B6-4B89B708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5277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Колонки и совместные спецпроекты</a:t>
            </a:r>
          </a:p>
        </p:txBody>
      </p:sp>
      <p:sp>
        <p:nvSpPr>
          <p:cNvPr id="15" name="04">
            <a:extLst xmlns:a="http://schemas.openxmlformats.org/drawingml/2006/main">
              <a:ext uri="{FF2B5EF4-FFF2-40B4-BE49-F238E27FC236}">
                <a16:creationId xmlns:a16="http://schemas.microsoft.com/office/drawing/2014/main" id="{8CB1256E-993D-4BEC-83F5-F655950D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933825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1725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04</a:t>
            </a:r>
          </a:p>
        </p:txBody>
      </p:sp>
      <p:sp>
        <p:nvSpPr>
          <p:cNvPr id="16" name="Исследования и эксклюзивные материалы">
            <a:extLst xmlns:a="http://schemas.openxmlformats.org/drawingml/2006/main">
              <a:ext uri="{FF2B5EF4-FFF2-40B4-BE49-F238E27FC236}">
                <a16:creationId xmlns:a16="http://schemas.microsoft.com/office/drawing/2014/main" id="{15421EF3-315B-4DEE-AF28-1E575AD7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933825"/>
            <a:ext cx="54387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Исследования и эксклюзивные материалы</a:t>
            </a:r>
          </a:p>
        </p:txBody>
      </p:sp>
      <p:sp>
        <p:nvSpPr>
          <p:cNvPr id="17" name="Объём работ, бюджет и показатели согласуем">
            <a:extLst xmlns:a="http://schemas.openxmlformats.org/drawingml/2006/main">
              <a:ext uri="{FF2B5EF4-FFF2-40B4-BE49-F238E27FC236}">
                <a16:creationId xmlns:a16="http://schemas.microsoft.com/office/drawing/2014/main" id="{960117C8-C961-467E-87BB-DB86444C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953125"/>
            <a:ext cx="6076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Объём работ, бюджет и показатели согласуем до запуска</a:t>
            </a:r>
          </a:p>
        </p:txBody>
      </p:sp>
      <p:sp>
        <p:nvSpPr>
          <p:cNvPr id="18" name="11">
            <a:extLst xmlns:a="http://schemas.openxmlformats.org/drawingml/2006/main">
              <a:ext uri="{FF2B5EF4-FFF2-40B4-BE49-F238E27FC236}">
                <a16:creationId xmlns:a16="http://schemas.microsoft.com/office/drawing/2014/main" id="{6D28A332-ACAD-4E88-82FB-03D16FDA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621725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Как начинается сотрудничество">
            <a:extLst xmlns:a="http://schemas.openxmlformats.org/drawingml/2006/main">
              <a:ext uri="{FF2B5EF4-FFF2-40B4-BE49-F238E27FC236}">
                <a16:creationId xmlns:a16="http://schemas.microsoft.com/office/drawing/2014/main" id="{2B8906F8-FB4D-4C0E-8496-B831844B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347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39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Как начинается сотрудничество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37FD1EDC-7AAE-4D05-AB75-67D65510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01</a:t>
            </a:r>
          </a:p>
        </p:txBody>
      </p:sp>
      <p:sp>
        <p:nvSpPr>
          <p:cNvPr id="3" name="Знакомимся">
            <a:extLst xmlns:a="http://schemas.openxmlformats.org/drawingml/2006/main">
              <a:ext uri="{FF2B5EF4-FFF2-40B4-BE49-F238E27FC236}">
                <a16:creationId xmlns:a16="http://schemas.microsoft.com/office/drawing/2014/main" id="{3F88A58A-3CFE-439F-B1DF-BF9F0079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Знакомимся</a:t>
            </a:r>
          </a:p>
        </p:txBody>
      </p:sp>
      <p:sp>
        <p:nvSpPr>
          <p:cNvPr id="4" name="Вы рассказываете о бренде, аудитории и зад">
            <a:extLst xmlns:a="http://schemas.openxmlformats.org/drawingml/2006/main">
              <a:ext uri="{FF2B5EF4-FFF2-40B4-BE49-F238E27FC236}">
                <a16:creationId xmlns:a16="http://schemas.microsoft.com/office/drawing/2014/main" id="{3275F41B-A2FD-4CB9-897A-F5F297F7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25146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Вы рассказываете о бренде, аудитории и задаче.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9C0C7202-2862-4958-998E-CF0EAD25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16217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defPPr>
            <a:lvl1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1pPr>
            <a:lvl2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2pPr>
            <a:lvl3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3pPr>
            <a:lvl4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4pPr>
            <a:lvl5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5pPr>
            <a:lvl6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6pPr>
            <a:lvl7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7pPr>
            <a:lvl8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8pPr>
            <a:lvl9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pPr>
            <a:r>
              <a: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rPr>
              <a:t>02</a:t>
            </a:r>
          </a:p>
        </p:txBody>
      </p:sp>
      <p:sp>
        <p:nvSpPr>
          <p:cNvPr id="6" name="Придумываем">
            <a:extLst xmlns:a="http://schemas.openxmlformats.org/drawingml/2006/main">
              <a:ext uri="{FF2B5EF4-FFF2-40B4-BE49-F238E27FC236}">
                <a16:creationId xmlns:a16="http://schemas.microsoft.com/office/drawing/2014/main" id="{687B865C-6F82-42B6-8B58-343CE635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476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Придумываем</a:t>
            </a:r>
          </a:p>
        </p:txBody>
      </p:sp>
      <p:sp>
        <p:nvSpPr>
          <p:cNvPr id="7" name="Предлагаем концепцию и формат. Согласуем с">
            <a:extLst xmlns:a="http://schemas.openxmlformats.org/drawingml/2006/main">
              <a:ext uri="{FF2B5EF4-FFF2-40B4-BE49-F238E27FC236}">
                <a16:creationId xmlns:a16="http://schemas.microsoft.com/office/drawing/2014/main" id="{E23BA844-8773-401B-897E-46F60998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143375"/>
            <a:ext cx="25146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Предлагаем концепцию и формат. Согласуем сроки, бюджет и показатели.</a:t>
            </a:r>
          </a:p>
        </p:txBody>
      </p:sp>
      <p:sp>
        <p:nvSpPr>
          <p:cNvPr id="8" name="03">
            <a:extLst xmlns:a="http://schemas.openxmlformats.org/drawingml/2006/main">
              <a:ext uri="{FF2B5EF4-FFF2-40B4-BE49-F238E27FC236}">
                <a16:creationId xmlns:a16="http://schemas.microsoft.com/office/drawing/2014/main" id="{C8D67948-479A-42E9-9532-9747469D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6217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defPPr>
            <a:lvl1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1pPr>
            <a:lvl2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2pPr>
            <a:lvl3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3pPr>
            <a:lvl4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4pPr>
            <a:lvl5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5pPr>
            <a:lvl6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6pPr>
            <a:lvl7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7pPr>
            <a:lvl8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8pPr>
            <a:lvl9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defRPr>
            </a:pPr>
            <a:r>
              <a:rPr sz="6300" b="1">
                <a:solidFill>
                  <a:srgbClr val="3C63F2"/>
                </a:solidFill>
                <a:latin typeface="Geologica"/>
                <a:ea typeface="Geologica"/>
                <a:cs typeface="Geologica"/>
              </a:rPr>
              <a:t>03</a:t>
            </a:r>
          </a:p>
        </p:txBody>
      </p:sp>
      <p:sp>
        <p:nvSpPr>
          <p:cNvPr id="9" name="Создаём">
            <a:extLst xmlns:a="http://schemas.openxmlformats.org/drawingml/2006/main">
              <a:ext uri="{FF2B5EF4-FFF2-40B4-BE49-F238E27FC236}">
                <a16:creationId xmlns:a16="http://schemas.microsoft.com/office/drawing/2014/main" id="{C8EA03F4-D530-473A-8B45-F253B09E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76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Создаём</a:t>
            </a:r>
          </a:p>
        </p:txBody>
      </p:sp>
      <p:sp>
        <p:nvSpPr>
          <p:cNvPr id="10" name="Готовим материалы и проверяем научную и ме">
            <a:extLst xmlns:a="http://schemas.openxmlformats.org/drawingml/2006/main">
              <a:ext uri="{FF2B5EF4-FFF2-40B4-BE49-F238E27FC236}">
                <a16:creationId xmlns:a16="http://schemas.microsoft.com/office/drawing/2014/main" id="{86FB0ADC-7358-4423-9211-A22D74BA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43375"/>
            <a:ext cx="25146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Готовим материалы и проверяем научную и медицинскую фактуру.</a:t>
            </a:r>
          </a:p>
        </p:txBody>
      </p:sp>
      <p:sp>
        <p:nvSpPr>
          <p:cNvPr id="11" name="04">
            <a:extLst xmlns:a="http://schemas.openxmlformats.org/drawingml/2006/main">
              <a:ext uri="{FF2B5EF4-FFF2-40B4-BE49-F238E27FC236}">
                <a16:creationId xmlns:a16="http://schemas.microsoft.com/office/drawing/2014/main" id="{2C2D92F6-C70B-4017-A7B5-ECD3828A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16217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defPPr>
            <a:lvl1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1pPr>
            <a:lvl2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2pPr>
            <a:lvl3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3pPr>
            <a:lvl4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4pPr>
            <a:lvl5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5pPr>
            <a:lvl6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6pPr>
            <a:lvl7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7pPr>
            <a:lvl8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8pPr>
            <a:lvl9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defRPr>
            </a:pPr>
            <a:r>
              <a:rPr sz="6300" b="1">
                <a:solidFill>
                  <a:srgbClr val="F73D78"/>
                </a:solidFill>
                <a:latin typeface="Geologica"/>
                <a:ea typeface="Geologica"/>
                <a:cs typeface="Geologica"/>
              </a:rPr>
              <a:t>04</a:t>
            </a:r>
          </a:p>
        </p:txBody>
      </p:sp>
      <p:sp>
        <p:nvSpPr>
          <p:cNvPr id="12" name="Запускаем">
            <a:extLst xmlns:a="http://schemas.openxmlformats.org/drawingml/2006/main">
              <a:ext uri="{FF2B5EF4-FFF2-40B4-BE49-F238E27FC236}">
                <a16:creationId xmlns:a16="http://schemas.microsoft.com/office/drawing/2014/main" id="{BD096F50-29A5-4133-9969-FE44840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476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171E48"/>
                </a:solidFill>
                <a:latin typeface="Geologica"/>
                <a:ea typeface="Geologica"/>
                <a:cs typeface="Geologica"/>
              </a:rPr>
              <a:t>Запускаем</a:t>
            </a:r>
          </a:p>
        </p:txBody>
      </p:sp>
      <p:sp>
        <p:nvSpPr>
          <p:cNvPr id="13" name="Публикуем проект или передаём материалы. П">
            <a:extLst xmlns:a="http://schemas.openxmlformats.org/drawingml/2006/main">
              <a:ext uri="{FF2B5EF4-FFF2-40B4-BE49-F238E27FC236}">
                <a16:creationId xmlns:a16="http://schemas.microsoft.com/office/drawing/2014/main" id="{14FE20D8-5FC6-4C7C-A6DE-3A2D9DD0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143375"/>
            <a:ext cx="25146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7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Публикуем проект или передаём материалы. Подводим итоги.</a:t>
            </a:r>
          </a:p>
        </p:txBody>
      </p:sp>
      <p:sp>
        <p:nvSpPr>
          <p:cNvPr id="14" name="Объём работ, бюджет и показатели фиксируем">
            <a:extLst xmlns:a="http://schemas.openxmlformats.org/drawingml/2006/main">
              <a:ext uri="{FF2B5EF4-FFF2-40B4-BE49-F238E27FC236}">
                <a16:creationId xmlns:a16="http://schemas.microsoft.com/office/drawing/2014/main" id="{F3CD7317-7FAB-4D61-800E-06573726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91225"/>
            <a:ext cx="10934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200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Объём работ, бюджет и показатели фиксируем до начала проекта</a:t>
            </a:r>
          </a:p>
        </p:txBody>
      </p:sp>
      <p:sp>
        <p:nvSpPr>
          <p:cNvPr id="15" name="НАНОБОТЫ">
            <a:extLst xmlns:a="http://schemas.openxmlformats.org/drawingml/2006/main">
              <a:ext uri="{FF2B5EF4-FFF2-40B4-BE49-F238E27FC236}">
                <a16:creationId xmlns:a16="http://schemas.microsoft.com/office/drawing/2014/main" id="{EA1A8E51-891D-4A74-9097-6D1BC9DB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1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НАНОБОТЫ</a:t>
            </a:r>
          </a:p>
        </p:txBody>
      </p:sp>
      <p:sp>
        <p:nvSpPr>
          <p:cNvPr id="16" name="12">
            <a:extLst xmlns:a="http://schemas.openxmlformats.org/drawingml/2006/main">
              <a:ext uri="{FF2B5EF4-FFF2-40B4-BE49-F238E27FC236}">
                <a16:creationId xmlns:a16="http://schemas.microsoft.com/office/drawing/2014/main" id="{E3193328-1B94-4AD4-A3D1-613CB307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69708B"/>
                </a:solidFill>
                <a:latin typeface="Geologica"/>
                <a:ea typeface="Geologica"/>
                <a:cs typeface="Geologic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1490519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71E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Наши партнёры">
            <a:extLst xmlns:a="http://schemas.openxmlformats.org/drawingml/2006/main">
              <a:ext uri="{FF2B5EF4-FFF2-40B4-BE49-F238E27FC236}">
                <a16:creationId xmlns:a16="http://schemas.microsoft.com/office/drawing/2014/main" id="{F56AFDD9-E67A-49FC-BDDA-42375101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3900" b="1">
                <a:solidFill>
                  <a:srgbClr val="FFFFFF"/>
                </a:solidFill>
                <a:latin typeface="Geologica"/>
                <a:ea typeface="Geologica"/>
                <a:cs typeface="Geologica"/>
              </a:rPr>
              <a:t>Наши партнёры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3E731-E983-48BE-A917-50C64580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333750" cy="17145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1F97D-45BC-4369-8BE5-BF9EEA1C5A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c2208039c450a"/>
          <a:stretch xmlns:a="http://schemas.openxmlformats.org/drawingml/2006/main"/>
        </p:blipFill>
        <p:spPr>
          <a:xfrm xmlns:a="http://schemas.openxmlformats.org/drawingml/2006/main">
            <a:off x="838200" y="2551435"/>
            <a:ext cx="2876550" cy="516880"/>
          </a:xfrm>
          <a:prstGeom xmlns:a="http://schemas.openxmlformats.org/drawingml/2006/main" prst="rect">
            <a:avLst/>
          </a:prstGeom>
        </p:spPr>
      </p:pic>
      <p:sp>
        <p:nvSpPr>
          <p:cNvPr id="4" name="Институт развития&#10;интернета">
            <a:extLst xmlns:a="http://schemas.openxmlformats.org/drawingml/2006/main">
              <a:ext uri="{FF2B5EF4-FFF2-40B4-BE49-F238E27FC236}">
                <a16:creationId xmlns:a16="http://schemas.microsoft.com/office/drawing/2014/main" id="{09CB2E99-3205-4808-9F05-6E0D6280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1500" b="1">
                <a:solidFill>
                  <a:srgbClr val="FFFFFF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e37bf004c5b143cf"/>
              </a:rPr>
              <a:t>Институт развития</a:t>
            </a:r>
          </a:p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1500" b="1">
                <a:solidFill>
                  <a:srgbClr val="FFFFFF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a30747b84b7049e1"/>
              </a:rPr>
              <a:t>интернета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3AC473-5AC3-481F-979D-CA4B740F6A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46359c8a514826"/>
          <a:stretch xmlns:a="http://schemas.openxmlformats.org/drawingml/2006/main"/>
        </p:blipFill>
        <p:spPr>
          <a:xfrm xmlns:a="http://schemas.openxmlformats.org/drawingml/2006/main">
            <a:off x="5503545" y="2019300"/>
            <a:ext cx="1165860" cy="1457325"/>
          </a:xfrm>
          <a:prstGeom xmlns:a="http://schemas.openxmlformats.org/drawingml/2006/main" prst="rect">
            <a:avLst/>
          </a:prstGeom>
        </p:spPr>
      </p:pic>
      <p:sp>
        <p:nvSpPr>
          <p:cNvPr id="6" name="Минобрнауки России">
            <a:extLst xmlns:a="http://schemas.openxmlformats.org/drawingml/2006/main">
              <a:ext uri="{FF2B5EF4-FFF2-40B4-BE49-F238E27FC236}">
                <a16:creationId xmlns:a16="http://schemas.microsoft.com/office/drawing/2014/main" id="{CB8405B3-3B9D-42DE-A2DF-FB1FE432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1000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1500" b="1">
                <a:solidFill>
                  <a:srgbClr val="FFFFFF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0935311e26454ff4"/>
              </a:rPr>
              <a:t>Минобрнауки России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01E757-1DDD-422F-899A-AAF3A7DAB8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fb202dba84a13"/>
          <a:stretch xmlns:a="http://schemas.openxmlformats.org/drawingml/2006/main"/>
        </p:blipFill>
        <p:spPr>
          <a:xfrm xmlns:a="http://schemas.openxmlformats.org/drawingml/2006/main">
            <a:off x="8925243" y="2143125"/>
            <a:ext cx="1942465" cy="1333500"/>
          </a:xfrm>
          <a:prstGeom xmlns:a="http://schemas.openxmlformats.org/drawingml/2006/main" prst="rect">
            <a:avLst/>
          </a:prstGeom>
        </p:spPr>
      </p:pic>
      <p:sp>
        <p:nvSpPr>
          <p:cNvPr id="8" name="Десятилетие науки&#10;и технологий">
            <a:extLst xmlns:a="http://schemas.openxmlformats.org/drawingml/2006/main">
              <a:ext uri="{FF2B5EF4-FFF2-40B4-BE49-F238E27FC236}">
                <a16:creationId xmlns:a16="http://schemas.microsoft.com/office/drawing/2014/main" id="{8E346602-0DDD-48C7-AF00-04DED0BB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1500" b="1">
                <a:solidFill>
                  <a:srgbClr val="FFFFFF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a068aeaccdf344e0"/>
              </a:rPr>
              <a:t>Десятилетие науки</a:t>
            </a:r>
          </a:p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1500" b="1">
                <a:solidFill>
                  <a:srgbClr val="FFFFFF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7db91ebbb270411d"/>
              </a:rPr>
              <a:t>и технологий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714167-EB7E-43DE-AE1B-E81EDF61E7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24f71c11140fa"/>
          <a:stretch xmlns:a="http://schemas.openxmlformats.org/drawingml/2006/main"/>
        </p:blipFill>
        <p:spPr>
          <a:xfrm xmlns:a="http://schemas.openxmlformats.org/drawingml/2006/main">
            <a:off x="2699971" y="4591050"/>
            <a:ext cx="2696308" cy="876300"/>
          </a:xfrm>
          <a:prstGeom xmlns:a="http://schemas.openxmlformats.org/drawingml/2006/main" prst="rect">
            <a:avLst/>
          </a:prstGeom>
        </p:spPr>
      </p:pic>
      <p:sp>
        <p:nvSpPr>
          <p:cNvPr id="10" name="Фестиваль «НАУКА 0+»">
            <a:extLst xmlns:a="http://schemas.openxmlformats.org/drawingml/2006/main">
              <a:ext uri="{FF2B5EF4-FFF2-40B4-BE49-F238E27FC236}">
                <a16:creationId xmlns:a16="http://schemas.microsoft.com/office/drawing/2014/main" id="{8C6E8CD4-688B-436C-A3E2-FF17DC6C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00725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1500" b="1">
                <a:solidFill>
                  <a:srgbClr val="FFFFFF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19edc1b8841d4400"/>
              </a:rPr>
              <a:t>Фестиваль «НАУКА 0+»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214461-B435-473D-8F7B-4F8ABD2C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3333750" cy="125730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CB98A-A978-45B6-BD9F-7B1F26AF32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8a926f5614b50"/>
          <a:stretch xmlns:a="http://schemas.openxmlformats.org/drawingml/2006/main"/>
        </p:blipFill>
        <p:spPr>
          <a:xfrm xmlns:a="http://schemas.openxmlformats.org/drawingml/2006/main">
            <a:off x="6724650" y="4752782"/>
            <a:ext cx="2876550" cy="552837"/>
          </a:xfrm>
          <a:prstGeom xmlns:a="http://schemas.openxmlformats.org/drawingml/2006/main" prst="rect">
            <a:avLst/>
          </a:prstGeom>
        </p:spPr>
      </p:pic>
      <p:sp>
        <p:nvSpPr>
          <p:cNvPr id="13" name="Национальные приоритеты">
            <a:extLst xmlns:a="http://schemas.openxmlformats.org/drawingml/2006/main">
              <a:ext uri="{FF2B5EF4-FFF2-40B4-BE49-F238E27FC236}">
                <a16:creationId xmlns:a16="http://schemas.microsoft.com/office/drawing/2014/main" id="{C93A31FF-727F-4219-B05B-01FDBD41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800725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1500" b="1">
                <a:solidFill>
                  <a:srgbClr val="FFFFFF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ec5cb43490e94e24"/>
              </a:rPr>
              <a:t>Национальные приоритеты</a:t>
            </a:r>
          </a:p>
        </p:txBody>
      </p:sp>
      <p:sp>
        <p:nvSpPr>
          <p:cNvPr id="14" name="НАНОБОТЫ">
            <a:extLst xmlns:a="http://schemas.openxmlformats.org/drawingml/2006/main">
              <a:ext uri="{FF2B5EF4-FFF2-40B4-BE49-F238E27FC236}">
                <a16:creationId xmlns:a16="http://schemas.microsoft.com/office/drawing/2014/main" id="{CD37DB91-58F2-449E-BC06-9BB25AD0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defPPr>
            <a:lvl1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1pPr>
            <a:lvl2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2pPr>
            <a:lvl3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3pPr>
            <a:lvl4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4pPr>
            <a:lvl5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5pPr>
            <a:lvl6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6pPr>
            <a:lvl7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7pPr>
            <a:lvl8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8pPr>
            <a:lvl9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125" b="1">
                <a:solidFill>
                  <a:srgbClr val="BDC8F7"/>
                </a:solidFill>
                <a:latin typeface="Geologica"/>
                <a:ea typeface="Geologica"/>
                <a:cs typeface="Geologica"/>
              </a:rPr>
              <a:t>НАНОБОТЫ</a:t>
            </a:r>
          </a:p>
        </p:txBody>
      </p:sp>
      <p:sp>
        <p:nvSpPr>
          <p:cNvPr id="15" name="13">
            <a:extLst xmlns:a="http://schemas.openxmlformats.org/drawingml/2006/main">
              <a:ext uri="{FF2B5EF4-FFF2-40B4-BE49-F238E27FC236}">
                <a16:creationId xmlns:a16="http://schemas.microsoft.com/office/drawing/2014/main" id="{E82F8FE1-7237-424C-9D8B-612A0839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125" b="0">
                <a:solidFill>
                  <a:srgbClr val="BDC8F7"/>
                </a:solidFill>
                <a:latin typeface="Geologica"/>
                <a:ea typeface="Geologica"/>
                <a:cs typeface="Geologic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750651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71E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BC1234-3B05-4FE2-9B67-D79BD2A624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307c8027d4304"/>
          <a:stretch xmlns:a="http://schemas.openxmlformats.org/drawingml/2006/main"/>
        </p:blipFill>
        <p:spPr>
          <a:xfrm xmlns:a="http://schemas.openxmlformats.org/drawingml/2006/main">
            <a:off x="609600" y="472678"/>
            <a:ext cx="1400175" cy="816769"/>
          </a:xfrm>
          <a:prstGeom xmlns:a="http://schemas.openxmlformats.org/drawingml/2006/main" prst="rect">
            <a:avLst/>
          </a:prstGeom>
        </p:spPr>
      </p:pic>
      <p:sp>
        <p:nvSpPr>
          <p:cNvPr id="2" name="Давайте открывать&#10;эту вселенную">
            <a:extLst xmlns:a="http://schemas.openxmlformats.org/drawingml/2006/main">
              <a:ext uri="{FF2B5EF4-FFF2-40B4-BE49-F238E27FC236}">
                <a16:creationId xmlns:a16="http://schemas.microsoft.com/office/drawing/2014/main" id="{21618ACE-A07E-4D3E-90D0-A36E5AA3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33575"/>
            <a:ext cx="6572250" cy="1495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rPr>
              <a:t>Давайте открывать</a:t>
            </a:r>
          </a:p>
          <a:p xmlns:a="http://schemas.openxmlformats.org/drawingml/2006/main">
            <a:pPr>
              <a:def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4275" b="1">
                <a:solidFill>
                  <a:srgbClr val="FFFFFF"/>
                </a:solidFill>
                <a:latin typeface="Geologica"/>
                <a:ea typeface="Geologica"/>
                <a:cs typeface="Geologica"/>
              </a:rPr>
              <a:t>эту вселенную</a:t>
            </a:r>
          </a:p>
        </p:txBody>
      </p:sp>
      <p:sp>
        <p:nvSpPr>
          <p:cNvPr id="3" name="вместе">
            <a:extLst xmlns:a="http://schemas.openxmlformats.org/drawingml/2006/main">
              <a:ext uri="{FF2B5EF4-FFF2-40B4-BE49-F238E27FC236}">
                <a16:creationId xmlns:a16="http://schemas.microsoft.com/office/drawing/2014/main" id="{5FE70C42-F4CE-459C-AD41-DDA9DA06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657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defPPr>
            <a:lvl1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1pPr>
            <a:lvl2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2pPr>
            <a:lvl3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3pPr>
            <a:lvl4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4pPr>
            <a:lvl5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5pPr>
            <a:lvl6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6pPr>
            <a:lvl7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7pPr>
            <a:lvl8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8pPr>
            <a:lvl9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pPr>
            <a:r>
              <a:rPr sz="4950" b="1">
                <a:solidFill>
                  <a:srgbClr val="FFE36A"/>
                </a:solidFill>
                <a:latin typeface="Geologica"/>
                <a:ea typeface="Geologica"/>
                <a:cs typeface="Geologica"/>
              </a:rPr>
              <a:t>вместе</a:t>
            </a:r>
          </a:p>
        </p:txBody>
      </p:sp>
      <p:sp>
        <p:nvSpPr>
          <p:cNvPr id="4" name="Совместные истории, образовательные проект">
            <a:extLst xmlns:a="http://schemas.openxmlformats.org/drawingml/2006/main">
              <a:ext uri="{FF2B5EF4-FFF2-40B4-BE49-F238E27FC236}">
                <a16:creationId xmlns:a16="http://schemas.microsoft.com/office/drawing/2014/main" id="{34AA88EE-04C9-4838-A683-2C3C1A5D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666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defPPr>
            <a:lvl1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1pPr>
            <a:lvl2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2pPr>
            <a:lvl3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3pPr>
            <a:lvl4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4pPr>
            <a:lvl5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5pPr>
            <a:lvl6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6pPr>
            <a:lvl7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7pPr>
            <a:lvl8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8pPr>
            <a:lvl9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rPr>
              <a:t>Совместные истории, образовательные проекты</a:t>
            </a:r>
          </a:p>
          <a:p xmlns:a="http://schemas.openxmlformats.org/drawingml/2006/main">
            <a:pPr>
              <a:def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800" b="0">
                <a:solidFill>
                  <a:srgbClr val="BDC8F7"/>
                </a:solidFill>
                <a:latin typeface="Geologica"/>
                <a:ea typeface="Geologica"/>
                <a:cs typeface="Geologica"/>
              </a:rPr>
              <a:t>и товары с любимыми героями</a:t>
            </a:r>
          </a:p>
        </p:txBody>
      </p:sp>
      <p:sp>
        <p:nvSpPr>
          <p:cNvPr id="5" name="По вопросам сотрудничества">
            <a:extLst xmlns:a="http://schemas.openxmlformats.org/drawingml/2006/main">
              <a:ext uri="{FF2B5EF4-FFF2-40B4-BE49-F238E27FC236}">
                <a16:creationId xmlns:a16="http://schemas.microsoft.com/office/drawing/2014/main" id="{1DFEF84A-1B1B-4070-9E36-1C5CCB48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181225"/>
            <a:ext cx="3619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defPPr>
            <a:lvl1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1pPr>
            <a:lvl2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2pPr>
            <a:lvl3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3pPr>
            <a:lvl4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4pPr>
            <a:lvl5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5pPr>
            <a:lvl6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6pPr>
            <a:lvl7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7pPr>
            <a:lvl8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8pPr>
            <a:lvl9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500" b="0">
                <a:solidFill>
                  <a:srgbClr val="BDC8F7"/>
                </a:solidFill>
                <a:latin typeface="Geologica"/>
                <a:ea typeface="Geologica"/>
                <a:cs typeface="Geologica"/>
              </a:rPr>
              <a:t>По вопросам сотрудничества</a:t>
            </a:r>
          </a:p>
        </p:txBody>
      </p:sp>
      <p:sp>
        <p:nvSpPr>
          <p:cNvPr id="6" name="Анастасия&#10;Валикова">
            <a:extLst xmlns:a="http://schemas.openxmlformats.org/drawingml/2006/main">
              <a:ext uri="{FF2B5EF4-FFF2-40B4-BE49-F238E27FC236}">
                <a16:creationId xmlns:a16="http://schemas.microsoft.com/office/drawing/2014/main" id="{CDC19C70-B262-4B6C-930A-51B41C8F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809875"/>
            <a:ext cx="3619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rPr>
              <a:t>Анастасия</a:t>
            </a:r>
          </a:p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3000" b="1">
                <a:solidFill>
                  <a:srgbClr val="FFFFFF"/>
                </a:solidFill>
                <a:latin typeface="Geologica"/>
                <a:ea typeface="Geologica"/>
                <a:cs typeface="Geologica"/>
              </a:rPr>
              <a:t>Валикова</a:t>
            </a:r>
          </a:p>
        </p:txBody>
      </p:sp>
      <p:sp>
        <p:nvSpPr>
          <p:cNvPr id="7" name="valikova@4meds.ru">
            <a:extLst xmlns:a="http://schemas.openxmlformats.org/drawingml/2006/main">
              <a:ext uri="{FF2B5EF4-FFF2-40B4-BE49-F238E27FC236}">
                <a16:creationId xmlns:a16="http://schemas.microsoft.com/office/drawing/2014/main" id="{89FA1975-431B-4FE1-AAAA-B1624294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191000"/>
            <a:ext cx="36290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defPPr>
            <a:lvl1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1pPr>
            <a:lvl2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2pPr>
            <a:lvl3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3pPr>
            <a:lvl4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4pPr>
            <a:lvl5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5pPr>
            <a:lvl6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6pPr>
            <a:lvl7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7pPr>
            <a:lvl8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8pPr>
            <a:lvl9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FE36A"/>
                </a:solidFill>
                <a:latin typeface="Geologica"/>
                <a:ea typeface="Geologica"/>
                <a:cs typeface="Geologica"/>
              </a:defRPr>
            </a:pPr>
            <a:r>
              <a:rPr sz="2100" b="1">
                <a:solidFill>
                  <a:srgbClr val="FFE36A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d32dc1d2b3954a3a"/>
              </a:rPr>
              <a:t>valikova@4meds.ru</a:t>
            </a:r>
          </a:p>
        </p:txBody>
      </p:sp>
      <p:sp>
        <p:nvSpPr>
          <p:cNvPr id="8" name="nanoboti.ru">
            <a:extLst xmlns:a="http://schemas.openxmlformats.org/drawingml/2006/main">
              <a:ext uri="{FF2B5EF4-FFF2-40B4-BE49-F238E27FC236}">
                <a16:creationId xmlns:a16="http://schemas.microsoft.com/office/drawing/2014/main" id="{27DD8E19-B1F2-4792-AED4-1E47CEF0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905375"/>
            <a:ext cx="36290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defPPr>
            <a:lvl1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1pPr>
            <a:lvl2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2pPr>
            <a:lvl3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3pPr>
            <a:lvl4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4pPr>
            <a:lvl5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5pPr>
            <a:lvl6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6pPr>
            <a:lvl7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7pPr>
            <a:lvl8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8pPr>
            <a:lvl9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Geologica"/>
                <a:ea typeface="Geologica"/>
                <a:cs typeface="Geologica"/>
              </a:defRPr>
            </a:pPr>
            <a:r>
              <a:rPr sz="1875" b="0">
                <a:solidFill>
                  <a:srgbClr val="FFFFFF"/>
                </a:solidFill>
                <a:latin typeface="Geologica"/>
                <a:ea typeface="Geologica"/>
                <a:cs typeface="Geologica"/>
                <a:hlinkClick xmlns:r="http://schemas.openxmlformats.org/officeDocument/2006/relationships" r:id="R049ff4c3374d4fbd"/>
              </a:rPr>
              <a:t>nanoboti.ru</a:t>
            </a:r>
          </a:p>
        </p:txBody>
      </p:sp>
      <p:sp>
        <p:nvSpPr>
          <p:cNvPr id="9" name="ООО «4МЕДС»">
            <a:extLst xmlns:a="http://schemas.openxmlformats.org/drawingml/2006/main">
              <a:ext uri="{FF2B5EF4-FFF2-40B4-BE49-F238E27FC236}">
                <a16:creationId xmlns:a16="http://schemas.microsoft.com/office/drawing/2014/main" id="{6A88DFE3-6A1F-4A68-831F-3ECF2124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381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defPPr>
            <a:lvl1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1pPr>
            <a:lvl2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2pPr>
            <a:lvl3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3pPr>
            <a:lvl4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4pPr>
            <a:lvl5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5pPr>
            <a:lvl6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6pPr>
            <a:lvl7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7pPr>
            <a:lvl8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8pPr>
            <a:lvl9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rPr>
              <a:t>ООО «4МЕДС»</a:t>
            </a:r>
          </a:p>
        </p:txBody>
      </p:sp>
      <p:sp>
        <p:nvSpPr>
          <p:cNvPr id="10" name="14">
            <a:extLst xmlns:a="http://schemas.openxmlformats.org/drawingml/2006/main">
              <a:ext uri="{FF2B5EF4-FFF2-40B4-BE49-F238E27FC236}">
                <a16:creationId xmlns:a16="http://schemas.microsoft.com/office/drawing/2014/main" id="{0BBDEB54-ACE0-40D0-B940-DAC72F58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67450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defPPr>
            <a:lvl1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1pPr>
            <a:lvl2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2pPr>
            <a:lvl3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3pPr>
            <a:lvl4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4pPr>
            <a:lvl5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5pPr>
            <a:lvl6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6pPr>
            <a:lvl7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7pPr>
            <a:lvl8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8pPr>
            <a:lvl9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lvl9pPr>
          </a:lstStyle>
          <a:p xmlns:a="http://schemas.openxmlformats.org/drawingml/2006/main">
            <a:pPr algn="r">
              <a:def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defRPr>
            </a:pPr>
            <a:r>
              <a:rPr sz="1275" b="0">
                <a:solidFill>
                  <a:srgbClr val="BDC8F7"/>
                </a:solidFill>
                <a:latin typeface="Geologica"/>
                <a:ea typeface="Geologica"/>
                <a:cs typeface="Geologica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313815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Geologica"/>
        <a:ea typeface=""/>
        <a:cs typeface=""/>
      </a:majorFont>
      <a:minorFont>
        <a:latin typeface="Geologica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2026-10-22T20:36:42.3840000Z</dcterms:created>
  <dcterms:modified xsi:type="dcterms:W3CDTF">2026-10-22T20:36:42.3840000Z</dcterms:modified>
</coreProperties>
</file>